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31520"/>
            <a:ext cx="3474720" cy="411480"/>
          </a:xfrm>
          <a:prstGeom prst="round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MAJOR PROJECT — MID-TERM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ARA: An Autonomous Multi-Source Research Agent</a:t>
            </a:r>
          </a:p>
          <a:p>
            <a:pPr>
              <a:defRPr sz="1800">
                <a:solidFill>
                  <a:srgbClr val="DCE1EB"/>
                </a:solidFill>
              </a:defRPr>
            </a:pPr>
            <a:r>
              <a:t>Evidence-Driven Scientific Inquiry, Strict Provenance &amp; Calibrated Report Synthesis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5120640" cy="2651760"/>
          </a:xfrm>
          <a:prstGeom prst="roundRect">
            <a:avLst/>
          </a:prstGeom>
          <a:solidFill>
            <a:srgbClr val="192D55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PRESENTED BY: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•  R2142230351  —  Devansh Saini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•  R2142230187  —  Sumit Kumar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•  R2142230632  —  Yash Thakur</a:t>
            </a:r>
          </a:p>
          <a:p>
            <a:pPr>
              <a:defRPr sz="1300">
                <a:solidFill>
                  <a:srgbClr val="F0F5FF"/>
                </a:solidFill>
              </a:defRPr>
            </a:pPr>
            <a:r>
              <a:t>•  R2142230345  —  Kanishq Vikram Singh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120640" cy="2651760"/>
          </a:xfrm>
          <a:prstGeom prst="roundRect">
            <a:avLst/>
          </a:prstGeom>
          <a:solidFill>
            <a:srgbClr val="192D55"/>
          </a:solidFill>
          <a:ln>
            <a:solidFill>
              <a:srgbClr val="2846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MENTORED BY:</a:t>
            </a:r>
          </a:p>
          <a:p>
            <a:br/>
            <a:pPr>
              <a:defRPr sz="1800" b="1">
                <a:solidFill>
                  <a:srgbClr val="FFFFFF"/>
                </a:solidFill>
              </a:defRPr>
            </a:pPr>
            <a:r>
              <a:t>Dr Anish Kumar Vishwakarma</a:t>
            </a:r>
          </a:p>
          <a:p>
            <a:pPr>
              <a:defRPr sz="1300">
                <a:solidFill>
                  <a:srgbClr val="C8D2E6"/>
                </a:solidFill>
              </a:defRPr>
            </a:pPr>
            <a:r>
              <a:t>Department of Computer Science &amp; Engineering</a:t>
            </a:r>
            <a:br/>
            <a:r>
              <a:t>UPES — University of Tomorrow, Dehradun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Content &amp; Presentation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8580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TABLE OF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64922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1.  Introduction (Motivation, Problem Statement &amp; Technical Concepts)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2.  Literature Review (Existing RAG Architectures &amp; Research Gaps)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3.  Objectives (7 Formal Engineering &amp; Research Goals)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4.  Proposed Methodology Overview (Pipeline Architecture &amp; Timeline)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5.  Working Model (Component Modules &amp; Attained Deliverables)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6.  Results &amp; Quantitative Evaluation (Benchmark Discovery &amp; Sufficiency)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7.  Conclusion (Objective Justifications &amp; Future Scope)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</a:defRPr>
            </a:pPr>
            <a:r>
              <a:t>8.  References (Literature Foundation &amp; Benchmark Citations)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356616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38988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EVALUATION STAGES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200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🔴 Synopsis (Completed)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Problem formulation, hypothesis planning schema, initial design.</a:t>
            </a:r>
            <a:br/>
          </a:p>
          <a:p>
            <a:pPr>
              <a:defRPr sz="1300" b="1">
                <a:solidFill>
                  <a:srgbClr val="E65100"/>
                </a:solidFill>
              </a:defRPr>
            </a:pPr>
            <a:r>
              <a:t>🟠 Mid Term (Current Stage)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Multi-provider academic discovery, deduplication, deep retrieval, strict evidence validation &amp; autonomous re-search.</a:t>
            </a:r>
            <a:br/>
          </a:p>
          <a:p>
            <a:pPr>
              <a:defRPr sz="1300" b="1">
                <a:solidFill>
                  <a:srgbClr val="0F2043"/>
                </a:solidFill>
              </a:defRPr>
            </a:pPr>
            <a:r>
              <a:t>🟣 End Term (Upcoming)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Formal packaging, interactive web UI deployment &amp; automated PDF rendering pipeline.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Introduction &amp; Problem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1.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Large Language Models (LLMs) are widely used for research, yet prone to confirmation bias, hallucinated citations, and shallow summarization.</a:t>
            </a:r>
          </a:p>
          <a:p>
            <a:pPr>
              <a:defRPr sz="1150"/>
            </a:pPr>
            <a:r>
              <a:t>• ARA (Autonomous Research Agent) is a multi-agent framework built for empirical scientific inquiry with verifiable evidence provenance.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2. Technical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Epistemic Planning: Working &amp; competing hypotheses with falsification criteria.</a:t>
            </a:r>
          </a:p>
          <a:p>
            <a:pPr>
              <a:defRPr sz="1150"/>
            </a:pPr>
            <a:r>
              <a:t>• Tri-Provider Discovery: OpenAlex + Semantic Scholar Graph API + Tavily.</a:t>
            </a:r>
          </a:p>
          <a:p>
            <a:pPr>
              <a:defRPr sz="1150"/>
            </a:pPr>
            <a:r>
              <a:t>• Strict Provenance: Verbatim quote checks against raw PDF &amp; HTML 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502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3. Motivation &amp; 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Problem: Conventional search-and-summarize pipelines retrieve only confirmatory snippets and hallucinate citations without self-auditing.</a:t>
            </a:r>
          </a:p>
          <a:p>
            <a:pPr>
              <a:defRPr sz="1150"/>
            </a:pPr>
            <a:r>
              <a:t>• Motivation: Need for an autonomous agent that actively seeks counter-evidence, checks claims against full papers, and fills research gaps.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95020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4. Area of Application &amp;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9768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t>• Applications: Scientific literature reviews, biomedical evidence synthesis, R&amp;D technical feasibility analysis, and academic writing assistance.</a:t>
            </a:r>
          </a:p>
          <a:p>
            <a:pPr>
              <a:defRPr sz="1150"/>
            </a:pPr>
            <a:r>
              <a:t>• Input Format: Open research topic / hypothesis statement.</a:t>
            </a:r>
          </a:p>
          <a:p>
            <a:pPr>
              <a:defRPr sz="1150"/>
            </a:pPr>
            <a:r>
              <a:t>• System Scope: Multi-source academic literature, arXiv preprints &amp; web.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Review &amp;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EXISTING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2043"/>
                </a:solidFill>
              </a:defRPr>
            </a:pPr>
            <a:r>
              <a:t>• Retrieval-Augmented Generation (RAG) [Lewis et al., 2020]: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Pioneered dense vector retrieval for knowledge grounding, but inherently relies on surface-level top-k chunking without claim verification.</a:t>
            </a:r>
            <a:br/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• Stanford STORM [Shao et al., 2024]: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Employs multi-perspective simulated discourse for Wikipedia-like synthesis; lacks strict verbatim quote provenance and counter-evidence quotas.</a:t>
            </a:r>
            <a:br/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• Lost-in-the-Middle Context Studies [Liu et al., 2024]: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Demonstrates that LLMs degrade in reasoning accuracy when flooded with unranked context, proving the necessity of selective deep retrieval.</a:t>
            </a:r>
            <a:br/>
          </a:p>
          <a:p>
            <a:pPr>
              <a:defRPr sz="1150" b="1">
                <a:solidFill>
                  <a:srgbClr val="0F2043"/>
                </a:solidFill>
              </a:defRPr>
            </a:pPr>
            <a:r>
              <a:t>• Academic Knowledge Graphs (Semantic Scholar &amp; OpenAlex) [2022-2024]: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Offer large-scale indexed metadata, but require robust deduplication across DOIs and graceful handling of strict rate limits.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5100"/>
                </a:solidFill>
              </a:defRPr>
            </a:pPr>
            <a:r>
              <a:t>LIMITATIONS &amp; RESEARCH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65100"/>
                </a:solidFill>
              </a:defRPr>
            </a:pPr>
            <a:r>
              <a:t>1. Confirmation Bias in Retrieval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Most agents formulate queries that only match the user's initial premise, entirely ignoring contradictory empirical literature.</a:t>
            </a:r>
            <a:br/>
          </a:p>
          <a:p>
            <a:pPr>
              <a:defRPr sz="1200" b="1">
                <a:solidFill>
                  <a:srgbClr val="E65100"/>
                </a:solidFill>
              </a:defRPr>
            </a:pPr>
            <a:r>
              <a:t>2. Citation Hallucination &amp; Phantom Quotes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Generative LLMs frequently attribute claims to papers that never made them, or synthesize ungrounded paraphrases.</a:t>
            </a:r>
            <a:br/>
          </a:p>
          <a:p>
            <a:pPr>
              <a:defRPr sz="1200" b="1">
                <a:solidFill>
                  <a:srgbClr val="E65100"/>
                </a:solidFill>
              </a:defRPr>
            </a:pPr>
            <a:r>
              <a:t>3. Absence of Self-Auditing Sufficiency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Existing systems summarize whatever snippet they find first, without testing if sample sizes, metrics, or primary sources are adequate.</a:t>
            </a:r>
            <a:br/>
          </a:p>
          <a:p>
            <a:pPr>
              <a:defRPr sz="1200" b="1">
                <a:solidFill>
                  <a:srgbClr val="E65100"/>
                </a:solidFill>
              </a:defRPr>
            </a:pPr>
            <a:r>
              <a:t>4. Single-Provider Fragility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Sole reliance on one search API fails when rate limits or indexing gaps occur, crashing the pipeline.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CORE TECHNICAL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1.  Objective 1: Autonomous Planning Agent:  </a:t>
            </a:r>
            <a:r>
              <a:rPr b="0">
                <a:solidFill>
                  <a:srgbClr val="212529"/>
                </a:solidFill>
              </a:rPr>
              <a:t>To design an LLM-powered research planner that formulates working and competing hypotheses with explicit falsification criteria and quality policies.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2.  Objective 2: Tri-Provider Academic Discovery:  </a:t>
            </a:r>
            <a:r>
              <a:rPr b="0">
                <a:solidFill>
                  <a:srgbClr val="212529"/>
                </a:solidFill>
              </a:rPr>
              <a:t>To engineer a multi-provider search engine integrating OpenAlex, Semantic Scholar Graph API, and Tavily with automatic rate-limit resilience.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3.  Objective 3: Multi-Key Deduplication Engine:  </a:t>
            </a:r>
            <a:r>
              <a:rPr b="0">
                <a:solidFill>
                  <a:srgbClr val="212529"/>
                </a:solidFill>
              </a:rPr>
              <a:t>To implement multi-key deduplication normalizing across Digital Object Identifiers (DOI), arXiv IDs, canonical URLs, and fuzzy title matching.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4.  Objective 4: Deep Content Retrieval &amp; PDF Parsing:  </a:t>
            </a:r>
            <a:r>
              <a:rPr b="0">
                <a:solidFill>
                  <a:srgbClr val="212529"/>
                </a:solidFill>
              </a:rPr>
              <a:t>To develop deep retrieval modules capable of downloading and extracting full-text arXiv PDFs using pypdf to avoid snippet hallucination.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5.  Objective 5: Strict Evidence Validation Engine:  </a:t>
            </a:r>
            <a:r>
              <a:rPr b="0">
                <a:solidFill>
                  <a:srgbClr val="212529"/>
                </a:solidFill>
              </a:rPr>
              <a:t>To establish an adversarial validation engine that validates verbatim quotes character-for-character and flags empirical contradictions.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6.  Objective 6: Autonomous Sufficiency &amp; Re-Search Loop:  </a:t>
            </a:r>
            <a:r>
              <a:rPr b="0">
                <a:solidFill>
                  <a:srgbClr val="212529"/>
                </a:solidFill>
              </a:rPr>
              <a:t>To implement a self-healing audit loop that detects missing counter-evidence or quantitative metrics and launches targeted re-search.</a:t>
            </a:r>
          </a:p>
          <a:p>
            <a:pPr>
              <a:spcAft>
                <a:spcPts val="800"/>
              </a:spcAft>
              <a:defRPr sz="1200" b="1">
                <a:solidFill>
                  <a:srgbClr val="0F2043"/>
                </a:solidFill>
              </a:defRPr>
            </a:pPr>
            <a:r>
              <a:t>7.  Objective 7: Calibrated Epistemic Report Synthesis:  </a:t>
            </a:r>
            <a:r>
              <a:rPr b="0">
                <a:solidFill>
                  <a:srgbClr val="212529"/>
                </a:solidFill>
              </a:rPr>
              <a:t>To construct a synthesizer producing academic HTML/Markdown reports with deterministic numbered citations [1], [2] and epistemic confidence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Methodology &amp; Development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PIPELINE FLOW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5100"/>
                </a:solidFill>
              </a:defRPr>
            </a:pPr>
            <a:r>
              <a:t>User Research Inquiry  ➔  Phase 1: Planning (Hypotheses &amp; Falsification)  ➔  Phase 2: Tri-Provider Search (Tavily + OpenAlex + S2)</a:t>
            </a:r>
            <a:br/>
            <a:r>
              <a:t>➔  Deep PDF Retrieval (pypdf)  ➔  Phase 3: Strict Validation &amp; Sufficiency Loop  ➔  Targeted Re-Search  ➔  Phase 4: Calibrated HTML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PROJECT DEVELOPMENT TIMELINE (WEEKS 1 TO 10)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3566160"/>
          <a:ext cx="10332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303520"/>
                <a:gridCol w="2011680"/>
                <a:gridCol w="1371600"/>
              </a:tblGrid>
              <a:tr h="33147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Milestone / Work Package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Technical Focus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1 (W1-2)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Hypothesis Planning &amp; Falsification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planner.py, schema.py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2 (W3-4)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Tri-Provider Discovery &amp; Deduplication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source_providers.py, sources.py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3 (W5)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Deep Retrieval &amp; arXiv PDF Text 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content_retriever.py, pypdf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4 (W6-7)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Strict Evidence Validation &amp; Contradictions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evidence_validator.py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5 (W8)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Sufficiency Evaluation &amp; Autonomous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evidence_sufficiency.py, main.py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6 (W9)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Calibrated Epistemic Synthesis &amp; HTML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calibrated_synthesizer.py, reports/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Phase 7 (W10)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Developer CLI, Offline Demo &amp; Final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Rich CLI, demo mode,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Model: Architecture &amp;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SYSTEM ARCHITECTURE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2043"/>
                </a:solidFill>
              </a:defRPr>
            </a:pPr>
            <a:r>
              <a:t>•  1. Input &amp; Planning Agent: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Decomposes topic into research_plan.json; defines falsification criteria &amp; minimum evidence quotas.</a:t>
            </a:r>
          </a:p>
          <a:p>
            <a:pPr>
              <a:defRPr sz="1100" b="1">
                <a:solidFill>
                  <a:srgbClr val="0F2043"/>
                </a:solidFill>
              </a:defRPr>
            </a:pPr>
            <a:r>
              <a:t>•  2. Multi-Provider Discovery: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Queries Tavily, OpenAlex, and Semantic Scholar; handles rate limits gracefully with web fallback.</a:t>
            </a:r>
          </a:p>
          <a:p>
            <a:pPr>
              <a:defRPr sz="1100" b="1">
                <a:solidFill>
                  <a:srgbClr val="0F2043"/>
                </a:solidFill>
              </a:defRPr>
            </a:pPr>
            <a:r>
              <a:t>•  3. Multi-Key Deduplication: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Merges duplicate candidates across DOI, arXiv ID, and canonical URL schemas.</a:t>
            </a:r>
          </a:p>
          <a:p>
            <a:pPr>
              <a:defRPr sz="1100" b="1">
                <a:solidFill>
                  <a:srgbClr val="0F2043"/>
                </a:solidFill>
              </a:defRPr>
            </a:pPr>
            <a:r>
              <a:t>•  4. Deep Content Retrieval: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Parses full text from web bodies and arXiv scientific PDFs via pypdf.</a:t>
            </a:r>
          </a:p>
          <a:p>
            <a:pPr>
              <a:defRPr sz="1100" b="1">
                <a:solidFill>
                  <a:srgbClr val="0F2043"/>
                </a:solidFill>
              </a:defRPr>
            </a:pPr>
            <a:r>
              <a:t>•  5. Evidence Extraction &amp; Validation: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Extracts claims, numbers, sample sizes; verifies verbatim quotes; detects empirical contradictions.</a:t>
            </a:r>
          </a:p>
          <a:p>
            <a:pPr>
              <a:defRPr sz="1100" b="1">
                <a:solidFill>
                  <a:srgbClr val="0F2043"/>
                </a:solidFill>
              </a:defRPr>
            </a:pPr>
            <a:r>
              <a:t>•  6. Autonomous Feedback Loop: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Audits evidence sufficiency; automatically re-searches if counter-evidence or numbers are lacking.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5100"/>
                </a:solidFill>
              </a:defRPr>
            </a:pPr>
            <a:r>
              <a:t>ATTAINED MID-TERM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8A745"/>
                </a:solidFill>
              </a:defRPr>
            </a:pPr>
            <a:r>
              <a:t>✔  Full End-to-End Execution Pipeline: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Seamless execution from prompt entry to final interactive academic HTML report.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✔  Authenticated Academic APIs: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Operational Semantic Scholar Graph API and OpenAlex integration with live backoff resilience.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✔  Self-Correcting Sufficiency Loop: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Verified autonomous re-search triggering when counter-evidence gaps are identified.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✔  Publication-Grade HTML Report: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Emits data/research_report.html with sticky sidebar, bidirectional citation jumps [1], and findings tables.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✔  Deterministic Offline Demo Mode: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Execution via --demo command exercising full CLI and rendering reports without external API keys.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✔  Multi-Format Artifact Generation: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   Outputs research_plan.json, research_evidence.json, research_report.md, and research_report.html.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Results &amp; Quantitative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1. QUANTITATIVE PIPELINE METRICS (TEST TRIAL ON LONG-CONTEXT LLMS)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691640"/>
          <a:ext cx="10332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5394960"/>
              </a:tblGrid>
              <a:tr h="402336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Technical &amp; Empirical Interpretation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Candidate Discovery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</a:defRPr>
                      </a:pPr>
                      <a:r>
                        <a:t>539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High recall across 3 independent providers (Tavily, OpenAlex, Semantic Scholar).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Deduplication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</a:defRPr>
                      </a:pPr>
                      <a:r>
                        <a:t>92.2% Unique (497 sources)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42 duplicate records successfully identified and merged across DOI/arXiv/URL keys.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Deep PDF Retrieval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</a:defRPr>
                      </a:pPr>
                      <a:r>
                        <a:t>90.0% (9/10 full 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arXiv and open-access PDFs downloaded and parsed via pypdf without scraping failure.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Epistemic Calibration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</a:defRPr>
                      </a:pPr>
                      <a:r>
                        <a:t>0.82 / 1.00 (High)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Balanced ratio of peer-reviewed literature, validated quotes, and quantitative metrics.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330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2. SUFFICIENCY CONVERGENCE &amp; AUTONOMOUS RE-SEARCH 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2043"/>
                </a:solidFill>
              </a:defRPr>
            </a:pPr>
            <a:r>
              <a:t>• The 'Self-Healing' Re-Search Loop in Action:</a:t>
            </a:r>
          </a:p>
          <a:p>
            <a:pPr>
              <a:defRPr sz="1100">
                <a:solidFill>
                  <a:srgbClr val="E65100"/>
                </a:solidFill>
              </a:defRPr>
            </a:pPr>
            <a:r>
              <a:t>   - Initial Evaluation: Q1 (insufficient counter-evidence), Q2 (insufficient counter-evidence), Q3 (insufficient quantitative data).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   - Autonomous Action: System generated 3 targeted queries (searching 'lost in the middle benchmark degradation' and 'retrieval accuracy numbers').</a:t>
            </a:r>
          </a:p>
          <a:p>
            <a:pPr>
              <a:defRPr sz="1100" b="1">
                <a:solidFill>
                  <a:srgbClr val="28A745"/>
                </a:solidFill>
              </a:defRPr>
            </a:pPr>
            <a:r>
              <a:t>   - Convergence: Evidence yielded increased from 11 to 13 verified findings, fulfilling sufficiency criteria before synthesis.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JUSTIFICATION OF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8A745"/>
                </a:solidFill>
              </a:defRPr>
            </a:pPr>
            <a:r>
              <a:t>✔ Planning &amp; Hypothesis Formation: </a:t>
            </a:r>
            <a:r>
              <a:rPr b="0">
                <a:solidFill>
                  <a:srgbClr val="212529"/>
                </a:solidFill>
              </a:rPr>
              <a:t>planner.py successfully decomposes questions into falsifiable structures.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Multi-Provider Discovery: </a:t>
            </a:r>
            <a:r>
              <a:rPr b="0">
                <a:solidFill>
                  <a:srgbClr val="212529"/>
                </a:solidFill>
              </a:rPr>
              <a:t>source_providers.py seamlessly routes queries between Tavily, OpenAlex, and S2.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Multi-Key Deduplication: </a:t>
            </a:r>
            <a:r>
              <a:rPr b="0">
                <a:solidFill>
                  <a:srgbClr val="212529"/>
                </a:solidFill>
              </a:rPr>
              <a:t>sources.py merges duplicate entries via canonical DOIs and normalized URLs.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Deep PDF Parsing: </a:t>
            </a:r>
            <a:r>
              <a:rPr b="0">
                <a:solidFill>
                  <a:srgbClr val="212529"/>
                </a:solidFill>
              </a:rPr>
              <a:t>content_retriever.py extracts body text using pypdf, eliminating snippet hallucinations.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Strict Grounding: </a:t>
            </a:r>
            <a:r>
              <a:rPr b="0">
                <a:solidFill>
                  <a:srgbClr val="212529"/>
                </a:solidFill>
              </a:rPr>
              <a:t>evidence_validator.py rejects claims failing verbatim raw-text matches.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Autonomous Feedback: </a:t>
            </a:r>
            <a:r>
              <a:rPr b="0">
                <a:solidFill>
                  <a:srgbClr val="212529"/>
                </a:solidFill>
              </a:rPr>
              <a:t>evidence_sufficiency.py triggers self-healing re-search without human intervention.</a:t>
            </a:r>
          </a:p>
          <a:p>
            <a:pPr>
              <a:defRPr sz="1050" b="1">
                <a:solidFill>
                  <a:srgbClr val="28A745"/>
                </a:solidFill>
              </a:defRPr>
            </a:pPr>
            <a:r>
              <a:t>✔ Academic HTML Report: </a:t>
            </a:r>
            <a:r>
              <a:rPr b="0">
                <a:solidFill>
                  <a:srgbClr val="212529"/>
                </a:solidFill>
              </a:rPr>
              <a:t>html_renderer.py generates publication-grade reports with deterministic citations.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5100"/>
                </a:solidFill>
              </a:defRPr>
            </a:pPr>
            <a:r>
              <a:t>FUTURE SCOPE (END-TERM ROADMAP)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65100"/>
                </a:solidFill>
              </a:defRPr>
            </a:pPr>
            <a:r>
              <a:t>1. Direct Headless PDF Compilation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Integrating Playwright or WeasyPrint to directly compile publication-grade PDF documents from HTML.</a:t>
            </a:r>
            <a:br/>
          </a:p>
          <a:p>
            <a:pPr>
              <a:defRPr sz="1150" b="1">
                <a:solidFill>
                  <a:srgbClr val="E65100"/>
                </a:solidFill>
              </a:defRPr>
            </a:pPr>
            <a:r>
              <a:t>2. Multi-Hop Citation Graph Exploration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Traversing forward and backward citations via Semantic Scholar's graph API to locate seminal foundational papers.</a:t>
            </a:r>
            <a:br/>
          </a:p>
          <a:p>
            <a:pPr>
              <a:defRPr sz="1150" b="1">
                <a:solidFill>
                  <a:srgbClr val="E65100"/>
                </a:solidFill>
              </a:defRPr>
            </a:pPr>
            <a:r>
              <a:t>3. Localized Vector Knowledge Base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Persisting parsed PDF chunks in ChromaDB or LanceDB for instant semantic retrieval across sessions.</a:t>
            </a:r>
            <a:br/>
          </a:p>
          <a:p>
            <a:pPr>
              <a:defRPr sz="1150" b="1">
                <a:solidFill>
                  <a:srgbClr val="E65100"/>
                </a:solidFill>
              </a:defRPr>
            </a:pPr>
            <a:r>
              <a:t>4. Radiologist / Expert-in-the-Loop UI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Expanding the local Flask Web UI with an interactive audit dashboard for human expert overrides.</a:t>
            </a:r>
            <a:br/>
          </a:p>
          <a:p>
            <a:pPr>
              <a:defRPr sz="1150" b="1">
                <a:solidFill>
                  <a:srgbClr val="E65100"/>
                </a:solidFill>
              </a:defRPr>
            </a:pPr>
            <a:r>
              <a:t>5. Multi-Model Epistemic Ensembling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Cross-validating findings across Gemini, Claude, and local open-source models (Llama-3).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65100"/>
                </a:solidFill>
              </a:defRPr>
            </a:pPr>
            <a:r>
              <a:t>MAJOR PROJECT (MID-TERM EVALUATION)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References &amp; Benchmark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28600"/>
            <a:ext cx="2377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</a:defRPr>
            </a:pPr>
            <a:r>
              <a:t>UPES</a:t>
            </a:r>
          </a:p>
          <a:p>
            <a:pPr algn="r">
              <a:defRPr sz="1000">
                <a:solidFill>
                  <a:srgbClr val="C8C8C8"/>
                </a:solidFill>
              </a:defRPr>
            </a:pPr>
            <a:r>
              <a:t>University of Tomorrow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104241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043"/>
                </a:solidFill>
              </a:defRPr>
            </a:pPr>
            <a:r>
              <a:t>FOUNDATIONAL PAPERS &amp;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[1] Liu, N. F., Lin, K., Hewitt, J., Paranjape, A., Bevilacqua, M., Petroni, F., &amp; Liang, P. (2024). Lost in the Middle: How Language Models Use Long Contexts. Transactions of the Association for Computational Linguistics (TACL), 12, 157-173.</a:t>
            </a:r>
          </a:p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[2] Shao, Y., Jiang, Y. T., Kanithi, T. A., Xu, P., Grossman, O., Guo, P. B., ... &amp; Lam, M. S. (2024). Assisting in Writing Wikipedia-like Articles From Scratch with Large Language Models (STORM). arXiv preprint arXiv:2402.14207.</a:t>
            </a:r>
          </a:p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[3] Priem, J., Piwowar, H., &amp; Orr, R. (2022). OpenAlex: A fully-open index of scholarly works, authors, venues, institutions, and concepts. arXiv preprint arXiv:2205.01833.</a:t>
            </a:r>
          </a:p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[4] Kinney, R., Anastasiades, C., Authur, R., et al. (2023). The Semantic Scholar Open Research Corpus. Allen Institute for Artificial Intelligence. ACM/IEEE Joint Conference on Digital Libraries.</a:t>
            </a:r>
          </a:p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[5] Lewis, P., Perez, E., Piktus, A., Petroni, F., Karpukhin, V., Goyal, N., ... &amp; Kiela, D. (2020). Retrieval-Augmented Generation for Knowledge-Intensive NLP Tasks. Advances in Neural Information Processing Systems (NeurIPS), 33, 9459-9474.</a:t>
            </a:r>
          </a:p>
          <a:p>
            <a:pPr>
              <a:spcAft>
                <a:spcPts val="1200"/>
              </a:spcAft>
              <a:defRPr sz="1100">
                <a:solidFill>
                  <a:srgbClr val="212529"/>
                </a:solidFill>
              </a:defRPr>
            </a:pPr>
            <a:r>
              <a:t>[6] Google DeepMind (2024). Gemini: A Family of Highly Capable Multimodal Models. Technical Report, Google DeepMind.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200">
                <a:solidFill>
                  <a:srgbClr val="E65100"/>
                </a:solidFill>
              </a:defRPr>
            </a:pPr>
            <a:r>
              <a:t>Questions &amp; Feedback Welcome</a:t>
            </a:r>
            <a:br/>
          </a:p>
          <a:p>
            <a:pPr algn="ctr">
              <a:defRPr sz="1400">
                <a:solidFill>
                  <a:srgbClr val="C8D2E6"/>
                </a:solidFill>
              </a:defRPr>
            </a:pPr>
            <a:r>
              <a:t>Repository: https://github.com/kanishk-16/research-agent</a:t>
            </a:r>
            <a:br/>
            <a:r>
              <a:t>UPES — School of Computer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