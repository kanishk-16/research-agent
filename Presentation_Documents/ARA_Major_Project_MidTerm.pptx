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3640" r:id="rId2"/>
    <p:sldId id="3694" r:id="rId3"/>
    <p:sldId id="3697" r:id="rId4"/>
    <p:sldId id="3700" r:id="rId5"/>
    <p:sldId id="3701" r:id="rId6"/>
    <p:sldId id="3709" r:id="rId7"/>
    <p:sldId id="3702" r:id="rId8"/>
    <p:sldId id="3703" r:id="rId9"/>
    <p:sldId id="3704" r:id="rId10"/>
    <p:sldId id="3710" r:id="rId11"/>
    <p:sldId id="3705" r:id="rId12"/>
    <p:sldId id="3706" r:id="rId13"/>
    <p:sldId id="364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keshi Parnami" initials="SP" lastIdx="1" clrIdx="0">
    <p:extLst>
      <p:ext uri="{19B8F6BF-5375-455C-9EA6-DF929625EA0E}">
        <p15:presenceInfo xmlns:p15="http://schemas.microsoft.com/office/powerpoint/2012/main" userId="S::sparnami@upes.ac.in::61686955-4e93-4ddb-a545-ba82f91d1f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36FF"/>
    <a:srgbClr val="4AAEFC"/>
    <a:srgbClr val="434ACF"/>
    <a:srgbClr val="BF2CFE"/>
    <a:srgbClr val="46B0FA"/>
    <a:srgbClr val="27D4F8"/>
    <a:srgbClr val="D9FF00"/>
    <a:srgbClr val="E0E600"/>
    <a:srgbClr val="0B2F3E"/>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13" autoAdjust="0"/>
    <p:restoredTop sz="96327"/>
  </p:normalViewPr>
  <p:slideViewPr>
    <p:cSldViewPr snapToGrid="0" snapToObjects="1">
      <p:cViewPr varScale="1">
        <p:scale>
          <a:sx n="94" d="100"/>
          <a:sy n="94" d="100"/>
        </p:scale>
        <p:origin x="115" y="110"/>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9D15D-1C13-CC45-BE09-4D54E9A973B4}" type="datetimeFigureOut">
              <a:rPr lang="en-US" smtClean="0"/>
              <a:t>10/5/2026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A8CF-95A7-924D-878B-183116A25DFA}" type="slidenum">
              <a:rPr lang="en-US" smtClean="0"/>
              <a:t>‹#›</a:t>
            </a:fld>
            <a:endParaRPr lang="en-US" dirty="0"/>
          </a:p>
        </p:txBody>
      </p:sp>
    </p:spTree>
    <p:extLst>
      <p:ext uri="{BB962C8B-B14F-4D97-AF65-F5344CB8AC3E}">
        <p14:creationId xmlns:p14="http://schemas.microsoft.com/office/powerpoint/2010/main" val="392396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FD3D9895-3AFC-9E49-BB6B-D5AF81433D95}" type="datetimeFigureOut">
              <a:rPr lang="en-US" smtClean="0"/>
              <a:t>10/5/2026</a:t>
            </a:fld>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77771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24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1703F520-AAB7-4D20-958E-A456239933B0}" type="datetimeFigureOut">
              <a:rPr lang="en-US" smtClean="0"/>
              <a:t>10/5/2026</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D3316BF-8A16-4F24-9F8F-9D40354D5A5C}" type="slidenum">
              <a:rPr lang="en-US" smtClean="0"/>
              <a:t>‹#›</a:t>
            </a:fld>
            <a:endParaRPr lang="en-US" dirty="0"/>
          </a:p>
        </p:txBody>
      </p:sp>
    </p:spTree>
    <p:extLst>
      <p:ext uri="{BB962C8B-B14F-4D97-AF65-F5344CB8AC3E}">
        <p14:creationId xmlns:p14="http://schemas.microsoft.com/office/powerpoint/2010/main" val="2737340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5"/>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3846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abs/2307.03172" TargetMode="External"/><Relationship Id="rId7" Type="http://schemas.openxmlformats.org/officeDocument/2006/relationships/hyperlink" Target="https://github.com/kanishk-16/research-agent" TargetMode="External"/><Relationship Id="rId2" Type="http://schemas.openxmlformats.org/officeDocument/2006/relationships/hyperlink" Target="https://doi.org/10.1007/s11704-024-40231-1" TargetMode="External"/><Relationship Id="rId1" Type="http://schemas.openxmlformats.org/officeDocument/2006/relationships/slideLayout" Target="../slideLayouts/slideLayout2.xml"/><Relationship Id="rId6" Type="http://schemas.openxmlformats.org/officeDocument/2006/relationships/hyperlink" Target="https://doi.org/10.18653/v1/2025.findings-emnlp.648" TargetMode="External"/><Relationship Id="rId5" Type="http://schemas.openxmlformats.org/officeDocument/2006/relationships/hyperlink" Target="https://arxiv.org/abs/2501.09136" TargetMode="External"/><Relationship Id="rId4" Type="http://schemas.openxmlformats.org/officeDocument/2006/relationships/hyperlink" Target="https://doi.org/10.1561/1500000019"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8895C2-828B-934B-8B58-BBC23AD3665A}"/>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4829" y="126108"/>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3"/>
          <a:stretch>
            <a:fillRect/>
          </a:stretch>
        </p:blipFill>
        <p:spPr>
          <a:xfrm>
            <a:off x="7485017" y="143688"/>
            <a:ext cx="4564228" cy="1474098"/>
          </a:xfrm>
          <a:prstGeom prst="rect">
            <a:avLst/>
          </a:prstGeom>
        </p:spPr>
      </p:pic>
      <p:sp>
        <p:nvSpPr>
          <p:cNvPr id="2" name="TextBox 1"/>
          <p:cNvSpPr txBox="1"/>
          <p:nvPr/>
        </p:nvSpPr>
        <p:spPr>
          <a:xfrm>
            <a:off x="2745377" y="1636990"/>
            <a:ext cx="6701245" cy="923330"/>
          </a:xfrm>
          <a:prstGeom prst="rect">
            <a:avLst/>
          </a:prstGeom>
          <a:noFill/>
        </p:spPr>
        <p:txBody>
          <a:bodyPr wrap="square" rtlCol="0">
            <a:spAutoFit/>
          </a:bodyPr>
          <a:lstStyle/>
          <a:p>
            <a:pPr algn="ctr"/>
            <a:r>
              <a:rPr lang="en-IN" sz="5400" dirty="0"/>
              <a:t>Major Project</a:t>
            </a:r>
          </a:p>
        </p:txBody>
      </p:sp>
      <p:sp>
        <p:nvSpPr>
          <p:cNvPr id="4" name="TextBox 3"/>
          <p:cNvSpPr txBox="1"/>
          <p:nvPr/>
        </p:nvSpPr>
        <p:spPr>
          <a:xfrm>
            <a:off x="1180999" y="2560320"/>
            <a:ext cx="9948555" cy="923330"/>
          </a:xfrm>
          <a:prstGeom prst="rect">
            <a:avLst/>
          </a:prstGeom>
          <a:noFill/>
        </p:spPr>
        <p:txBody>
          <a:bodyPr wrap="square" rtlCol="0">
            <a:spAutoFit/>
          </a:bodyPr>
          <a:lstStyle/>
          <a:p>
            <a:pPr algn="ctr"/>
            <a:r>
              <a:rPr lang="en-IN" sz="3400" dirty="0"/>
              <a:t>Autonomous Research Report Agent</a:t>
            </a:r>
          </a:p>
          <a:p>
            <a:pPr algn="ctr"/>
            <a:r>
              <a:rPr sz="2000" dirty="0">
                <a:solidFill>
                  <a:schemeClr val="bg1">
                    <a:lumMod val="65000"/>
                  </a:schemeClr>
                </a:solidFill>
              </a:rPr>
              <a:t>An Evidence-Driven Multi-Agent Framework for Automated Research</a:t>
            </a:r>
          </a:p>
        </p:txBody>
      </p:sp>
      <p:sp>
        <p:nvSpPr>
          <p:cNvPr id="6" name="TextBox 5"/>
          <p:cNvSpPr txBox="1"/>
          <p:nvPr/>
        </p:nvSpPr>
        <p:spPr>
          <a:xfrm>
            <a:off x="304829" y="5003074"/>
            <a:ext cx="3174275" cy="1754326"/>
          </a:xfrm>
          <a:prstGeom prst="rect">
            <a:avLst/>
          </a:prstGeom>
          <a:noFill/>
        </p:spPr>
        <p:txBody>
          <a:bodyPr wrap="square" rtlCol="0">
            <a:spAutoFit/>
          </a:bodyPr>
          <a:lstStyle/>
          <a:p>
            <a:r>
              <a:rPr lang="en-IN" sz="1500" dirty="0"/>
              <a:t>Presented by:</a:t>
            </a:r>
          </a:p>
          <a:p>
            <a:r>
              <a:rPr lang="en-IN" sz="1500" dirty="0"/>
              <a:t>500121743 - Kanishk Vikram Singh</a:t>
            </a:r>
          </a:p>
          <a:p>
            <a:r>
              <a:rPr lang="en-IN" sz="1500" dirty="0"/>
              <a:t>500119592 - Yash Thakur</a:t>
            </a:r>
          </a:p>
          <a:p>
            <a:r>
              <a:rPr lang="en-IN" sz="1500" dirty="0"/>
              <a:t>500119644 - Sumit Kumar</a:t>
            </a:r>
          </a:p>
          <a:p>
            <a:r>
              <a:rPr lang="en-IN" sz="1500" dirty="0"/>
              <a:t>500119031 - Devansh Saini</a:t>
            </a:r>
          </a:p>
          <a:p>
            <a:endParaRPr lang="en-IN" dirty="0"/>
          </a:p>
        </p:txBody>
      </p:sp>
      <p:sp>
        <p:nvSpPr>
          <p:cNvPr id="9" name="TextBox 8"/>
          <p:cNvSpPr txBox="1"/>
          <p:nvPr/>
        </p:nvSpPr>
        <p:spPr>
          <a:xfrm>
            <a:off x="8882743" y="5003074"/>
            <a:ext cx="2717074" cy="369332"/>
          </a:xfrm>
          <a:prstGeom prst="rect">
            <a:avLst/>
          </a:prstGeom>
          <a:noFill/>
        </p:spPr>
        <p:txBody>
          <a:bodyPr wrap="square" rtlCol="0">
            <a:spAutoFit/>
          </a:bodyPr>
          <a:lstStyle/>
          <a:p>
            <a:r>
              <a:rPr lang="en-IN" sz="1700" dirty="0"/>
              <a:t>Mentored By</a:t>
            </a:r>
            <a:endParaRPr lang="en-IN" dirty="0"/>
          </a:p>
          <a:p>
            <a:r>
              <a:rPr sz="1700"/>
              <a:t>Dr. Anish Kumar Vishwakarma</a:t>
            </a:r>
          </a:p>
        </p:txBody>
      </p:sp>
    </p:spTree>
    <p:extLst>
      <p:ext uri="{BB962C8B-B14F-4D97-AF65-F5344CB8AC3E}">
        <p14:creationId xmlns:p14="http://schemas.microsoft.com/office/powerpoint/2010/main" val="1627799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Content</a:t>
            </a:r>
            <a:endParaRPr lang="en-IN" sz="3200" b="1" dirty="0">
              <a:solidFill>
                <a:srgbClr val="46B0FA"/>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945968" y="1007841"/>
            <a:ext cx="4650377" cy="5601533"/>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Introduction</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Literature Review</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Objectives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System Architecture</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Methodology</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Working Model</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Results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Future work</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References </a:t>
            </a:r>
          </a:p>
          <a:p>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9729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22500"/>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Introduction</a:t>
            </a:r>
            <a:endParaRPr lang="en-IN" sz="3200" b="1" dirty="0">
              <a:solidFill>
                <a:srgbClr val="46B0FA"/>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8A41E17B-AC0A-A787-F58D-A42A7A199AA9}"/>
              </a:ext>
            </a:extLst>
          </p:cNvPr>
          <p:cNvSpPr txBox="1"/>
          <p:nvPr/>
        </p:nvSpPr>
        <p:spPr>
          <a:xfrm>
            <a:off x="325927" y="889843"/>
            <a:ext cx="10477500" cy="5539978"/>
          </a:xfrm>
          <a:prstGeom prst="rect">
            <a:avLst/>
          </a:prstGeom>
          <a:noFill/>
        </p:spPr>
        <p:txBody>
          <a:bodyPr wrap="square">
            <a:spAutoFit/>
          </a:bodyPr>
          <a:lstStyle/>
          <a:p>
            <a:pPr>
              <a:buNone/>
            </a:pPr>
            <a:r>
              <a:rPr lang="en-IN" sz="1600" b="1" dirty="0"/>
              <a:t>Technical Background:</a:t>
            </a:r>
            <a:r>
              <a:rPr lang="en-IN" sz="1600" dirty="0"/>
              <a:t> The project focuses on an LLM-powered multi-agent framework that automates the research process by coordinating specialized agents for planning, information retrieval, evidence analysis, and report generation.</a:t>
            </a:r>
          </a:p>
          <a:p>
            <a:pPr>
              <a:buNone/>
            </a:pPr>
            <a:endParaRPr lang="en-IN" sz="1600" dirty="0"/>
          </a:p>
          <a:p>
            <a:pPr>
              <a:buNone/>
            </a:pPr>
            <a:r>
              <a:rPr lang="en-IN" sz="1600" b="1" dirty="0"/>
              <a:t>Technical Concepts:</a:t>
            </a:r>
            <a:r>
              <a:rPr lang="en-IN" sz="1600" dirty="0"/>
              <a:t> The framework integrates a </a:t>
            </a:r>
            <a:r>
              <a:rPr lang="en-IN" sz="1600" b="1" dirty="0"/>
              <a:t>Information Retrieval Engine</a:t>
            </a:r>
            <a:r>
              <a:rPr lang="en-IN" sz="1600" dirty="0"/>
              <a:t> using tokenization, stop-word removal, Porter stemming, inverted indexing, and Robertson–</a:t>
            </a:r>
            <a:r>
              <a:rPr lang="en-IN" sz="1600" dirty="0" err="1"/>
              <a:t>Spärck</a:t>
            </a:r>
            <a:r>
              <a:rPr lang="en-IN" sz="1600" dirty="0"/>
              <a:t> Jones </a:t>
            </a:r>
            <a:r>
              <a:rPr lang="en-IN" sz="1600" b="1" dirty="0"/>
              <a:t>BM25 scoring</a:t>
            </a:r>
            <a:r>
              <a:rPr lang="en-IN" sz="1600" dirty="0"/>
              <a:t>. It employs </a:t>
            </a:r>
            <a:r>
              <a:rPr lang="en-IN" sz="1600" b="1" dirty="0"/>
              <a:t>Hybrid Dense-Sparse Matching</a:t>
            </a:r>
            <a:r>
              <a:rPr lang="en-IN" sz="1600" dirty="0"/>
              <a:t>, combining Gemini 3072-dimensional embeddings (</a:t>
            </a:r>
            <a:r>
              <a:rPr lang="en-IN" dirty="0"/>
              <a:t>gemini-embedding-001</a:t>
            </a:r>
            <a:r>
              <a:rPr lang="en-IN" sz="1600" dirty="0"/>
              <a:t>) with BM25 lexical precision. </a:t>
            </a:r>
            <a:r>
              <a:rPr lang="en-IN" sz="1600" b="1" dirty="0"/>
              <a:t>Deep PDF Passage Chunking</a:t>
            </a:r>
            <a:r>
              <a:rPr lang="en-IN" sz="1600" dirty="0"/>
              <a:t> uses sliding-window segmentation (</a:t>
            </a:r>
            <a:r>
              <a:rPr lang="en-IN" sz="1600" b="1" dirty="0"/>
              <a:t>350 words, 50-word overlap</a:t>
            </a:r>
            <a:r>
              <a:rPr lang="en-IN" sz="1600" dirty="0"/>
              <a:t>) to prevent context dilution in long documents.</a:t>
            </a:r>
          </a:p>
          <a:p>
            <a:pPr>
              <a:buNone/>
            </a:pPr>
            <a:endParaRPr lang="en-IN" sz="1600" dirty="0"/>
          </a:p>
          <a:p>
            <a:pPr>
              <a:buNone/>
            </a:pPr>
            <a:r>
              <a:rPr lang="en-IN" sz="1600" b="1" dirty="0"/>
              <a:t>Motivation:</a:t>
            </a:r>
            <a:r>
              <a:rPr lang="en-IN" sz="1600" dirty="0"/>
              <a:t> Traditional research requires considerable time and manual effort to explore literature, verify information, and organize findings. This project aims to streamline these activities while maintaining transparency, source traceability, and evidence-based conclusions.</a:t>
            </a:r>
          </a:p>
          <a:p>
            <a:pPr>
              <a:buNone/>
            </a:pPr>
            <a:endParaRPr lang="en-IN" sz="1600" dirty="0"/>
          </a:p>
          <a:p>
            <a:pPr>
              <a:buNone/>
            </a:pPr>
            <a:r>
              <a:rPr lang="en-IN" sz="1600" b="1" dirty="0"/>
              <a:t>Problem Statement:</a:t>
            </a:r>
            <a:r>
              <a:rPr lang="en-IN" sz="1600" dirty="0"/>
              <a:t> Conventional AI-generated summaries may lack adequate citations, overlook contradictory evidence, or present unsupported claims. The challenge is to develop an automated system that generates structured research reports grounded in verifiable evidence rather than relying on one-shot LLM responses.</a:t>
            </a:r>
          </a:p>
          <a:p>
            <a:pPr>
              <a:buNone/>
            </a:pPr>
            <a:endParaRPr lang="en-IN" sz="1600" dirty="0"/>
          </a:p>
          <a:p>
            <a:pPr>
              <a:buNone/>
            </a:pPr>
            <a:r>
              <a:rPr lang="en-IN" sz="1600" b="1" dirty="0"/>
              <a:t>Applications:</a:t>
            </a:r>
            <a:r>
              <a:rPr lang="en-IN" sz="1600" dirty="0"/>
              <a:t> The framework can support literature reviews, technical research, scientific exploration, evidence synthesis, comparative analysis, and early-stage investigation across diverse domains.</a:t>
            </a:r>
          </a:p>
          <a:p>
            <a:pPr>
              <a:buNone/>
            </a:pPr>
            <a:endParaRPr lang="en-IN" sz="1600" dirty="0"/>
          </a:p>
          <a:p>
            <a:pPr>
              <a:buNone/>
            </a:pPr>
            <a:r>
              <a:rPr lang="en-IN" sz="1600" b="1" dirty="0"/>
              <a:t>Input and Output:</a:t>
            </a:r>
            <a:r>
              <a:rPr lang="en-IN" sz="1600" dirty="0"/>
              <a:t> The system accepts a user-defined research topic or question as input and produces a structured research plan, collected and validated evidence records, and a comprehensive report with citations and source references.</a:t>
            </a:r>
          </a:p>
        </p:txBody>
      </p:sp>
    </p:spTree>
    <p:extLst>
      <p:ext uri="{BB962C8B-B14F-4D97-AF65-F5344CB8AC3E}">
        <p14:creationId xmlns:p14="http://schemas.microsoft.com/office/powerpoint/2010/main" val="480493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3448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Literature Review</a:t>
            </a:r>
          </a:p>
        </p:txBody>
      </p:sp>
      <p:sp>
        <p:nvSpPr>
          <p:cNvPr id="3" name="TextBox 2">
            <a:extLst>
              <a:ext uri="{FF2B5EF4-FFF2-40B4-BE49-F238E27FC236}">
                <a16:creationId xmlns:a16="http://schemas.microsoft.com/office/drawing/2014/main" id="{66168532-D141-4AB0-BD29-1663F2877B3E}"/>
              </a:ext>
            </a:extLst>
          </p:cNvPr>
          <p:cNvSpPr txBox="1"/>
          <p:nvPr/>
        </p:nvSpPr>
        <p:spPr>
          <a:xfrm>
            <a:off x="355963" y="965819"/>
            <a:ext cx="6199414" cy="3801041"/>
          </a:xfrm>
          <a:prstGeom prst="rect">
            <a:avLst/>
          </a:prstGeom>
          <a:noFill/>
        </p:spPr>
        <p:txBody>
          <a:bodyPr wrap="square" rtlCol="0">
            <a:spAutoFit/>
          </a:bodyPr>
          <a:lstStyle/>
          <a:p>
            <a:r>
              <a:rPr lang="en-IN" sz="1500" b="1" dirty="0"/>
              <a:t>Related Work:</a:t>
            </a:r>
            <a:endParaRPr lang="en-IN" sz="1500" dirty="0"/>
          </a:p>
          <a:p>
            <a:pPr lvl="0"/>
            <a:r>
              <a:rPr lang="en-IN" sz="1500" dirty="0"/>
              <a:t>Wang et al. (2024): Surveyed LLM-based autonomous agents, including planning, tool use, and agent architectures.</a:t>
            </a:r>
          </a:p>
          <a:p>
            <a:pPr lvl="0"/>
            <a:r>
              <a:rPr lang="en-IN" sz="1500" dirty="0"/>
              <a:t>Singh et al. (2025): Explored Agentic RAG, highlighting adaptive retrieval, reflection, and multi-agent collaboration.</a:t>
            </a:r>
          </a:p>
          <a:p>
            <a:pPr lvl="0"/>
            <a:r>
              <a:rPr lang="en-IN" sz="1500" dirty="0"/>
              <a:t>Li et al. (2025): Reviewed RAG-reasoning systems that combine iterative retrieval with multi-step reasoning.</a:t>
            </a:r>
          </a:p>
          <a:p>
            <a:pPr lvl="0"/>
            <a:r>
              <a:rPr lang="en-IN" sz="1500" dirty="0"/>
              <a:t>Yao et al. (2023): Introduced </a:t>
            </a:r>
            <a:r>
              <a:rPr lang="en-IN" sz="1500" dirty="0" err="1"/>
              <a:t>ReAct</a:t>
            </a:r>
            <a:r>
              <a:rPr lang="en-IN" sz="1500" dirty="0"/>
              <a:t>, integrating reasoning and tool-based actions.</a:t>
            </a:r>
          </a:p>
          <a:p>
            <a:pPr lvl="0"/>
            <a:endParaRPr lang="en-IN" sz="1500" dirty="0"/>
          </a:p>
          <a:p>
            <a:r>
              <a:rPr lang="en-IN" sz="1500" b="1" dirty="0"/>
              <a:t>Inference:</a:t>
            </a:r>
            <a:r>
              <a:rPr lang="en-IN" sz="1500" dirty="0"/>
              <a:t> Recent research highlights the shift from static LLM pipelines toward agentic systems capable of planning, iterative retrieval, tool use, and evidence-grounded reasoning. Our project applies these principles to structured research report generation with traceable evidence.</a:t>
            </a:r>
          </a:p>
          <a:p>
            <a:endParaRPr lang="en-IN" sz="1500"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TextBox 4">
            <a:extLst>
              <a:ext uri="{FF2B5EF4-FFF2-40B4-BE49-F238E27FC236}">
                <a16:creationId xmlns:a16="http://schemas.microsoft.com/office/drawing/2014/main" id="{F651C604-8B63-FC8A-202F-B0362AB0DEDB}"/>
              </a:ext>
            </a:extLst>
          </p:cNvPr>
          <p:cNvSpPr txBox="1"/>
          <p:nvPr/>
        </p:nvSpPr>
        <p:spPr>
          <a:xfrm>
            <a:off x="407670" y="4360645"/>
            <a:ext cx="6096000" cy="2169825"/>
          </a:xfrm>
          <a:prstGeom prst="rect">
            <a:avLst/>
          </a:prstGeom>
          <a:noFill/>
        </p:spPr>
        <p:txBody>
          <a:bodyPr wrap="square">
            <a:spAutoFit/>
          </a:bodyPr>
          <a:lstStyle/>
          <a:p>
            <a:r>
              <a:rPr lang="en-IN" sz="1500" b="1" dirty="0"/>
              <a:t>SWOT Analysis:</a:t>
            </a:r>
            <a:endParaRPr lang="en-IN" sz="1500" dirty="0"/>
          </a:p>
          <a:p>
            <a:pPr lvl="0"/>
            <a:r>
              <a:rPr lang="en-IN" sz="1500" b="1" dirty="0"/>
              <a:t>Strengths:</a:t>
            </a:r>
            <a:r>
              <a:rPr lang="en-IN" sz="1500" dirty="0"/>
              <a:t> Modular multi-agent workflow, multi-source retrieval, traceable evidence, and iterative research.</a:t>
            </a:r>
          </a:p>
          <a:p>
            <a:pPr lvl="0"/>
            <a:r>
              <a:rPr lang="en-IN" sz="1500" b="1" dirty="0"/>
              <a:t>Weaknesses:</a:t>
            </a:r>
            <a:r>
              <a:rPr lang="en-IN" sz="1500" dirty="0"/>
              <a:t> Dependence on external APIs, inconsistent source quality, and potential extraction errors.</a:t>
            </a:r>
          </a:p>
          <a:p>
            <a:pPr lvl="0"/>
            <a:r>
              <a:rPr lang="en-IN" sz="1500" b="1" dirty="0"/>
              <a:t>Opportunities:</a:t>
            </a:r>
            <a:r>
              <a:rPr lang="en-IN" sz="1500" dirty="0"/>
              <a:t> Academic database integration, automated citation verification, expert review, and benchmark-based evaluation.</a:t>
            </a:r>
          </a:p>
          <a:p>
            <a:pPr lvl="0"/>
            <a:r>
              <a:rPr lang="en-IN" sz="1500" b="1" dirty="0"/>
              <a:t>Threats:</a:t>
            </a:r>
            <a:r>
              <a:rPr lang="en-IN" sz="1500" dirty="0"/>
              <a:t> Retrieval bias, outdated or contradictory sources, hallucinations, and over-reliance on generated summaries.</a:t>
            </a:r>
          </a:p>
        </p:txBody>
      </p:sp>
      <p:sp>
        <p:nvSpPr>
          <p:cNvPr id="6" name="Rectangle 5">
            <a:extLst>
              <a:ext uri="{FF2B5EF4-FFF2-40B4-BE49-F238E27FC236}">
                <a16:creationId xmlns:a16="http://schemas.microsoft.com/office/drawing/2014/main" id="{DA6AF32A-AC40-D43B-ED20-0F6DF0B5BC75}"/>
              </a:ext>
            </a:extLst>
          </p:cNvPr>
          <p:cNvSpPr/>
          <p:nvPr/>
        </p:nvSpPr>
        <p:spPr>
          <a:xfrm>
            <a:off x="355963" y="4359452"/>
            <a:ext cx="6199414" cy="2308324"/>
          </a:xfrm>
          <a:prstGeom prst="rect">
            <a:avLst/>
          </a:prstGeom>
          <a:noFill/>
          <a:ln w="190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B3A02F3-DB67-535E-0CDF-C04346A62D05}"/>
              </a:ext>
            </a:extLst>
          </p:cNvPr>
          <p:cNvSpPr txBox="1"/>
          <p:nvPr/>
        </p:nvSpPr>
        <p:spPr>
          <a:xfrm>
            <a:off x="7038158" y="965819"/>
            <a:ext cx="4746172" cy="5447645"/>
          </a:xfrm>
          <a:prstGeom prst="rect">
            <a:avLst/>
          </a:prstGeom>
          <a:noFill/>
        </p:spPr>
        <p:txBody>
          <a:bodyPr wrap="square">
            <a:spAutoFit/>
          </a:bodyPr>
          <a:lstStyle/>
          <a:p>
            <a:pPr>
              <a:buNone/>
            </a:pPr>
            <a:r>
              <a:rPr lang="en-IN" sz="1500" b="1" dirty="0"/>
              <a:t>Identified research Gap</a:t>
            </a:r>
          </a:p>
          <a:p>
            <a:pPr>
              <a:buNone/>
            </a:pPr>
            <a:r>
              <a:rPr lang="en-IN" sz="1500" dirty="0"/>
              <a:t>Existing LLM-based research workflows often emphasize information retrieval and summary generation, while challenges remain in ensuring systematic, evidence-driven research.</a:t>
            </a:r>
          </a:p>
          <a:p>
            <a:pPr marL="342900" lvl="0" indent="-342900">
              <a:buFont typeface="Arial" panose="020B0604020202020204" pitchFamily="34" charset="0"/>
              <a:buChar char="•"/>
            </a:pPr>
            <a:r>
              <a:rPr lang="en-IN" sz="1500" b="1" dirty="0"/>
              <a:t>Research Planning:</a:t>
            </a:r>
            <a:r>
              <a:rPr lang="en-IN" sz="1500" dirty="0"/>
              <a:t> Explicitly defining research questions, evidence requirements, and search strategies.</a:t>
            </a:r>
          </a:p>
          <a:p>
            <a:pPr marL="342900" lvl="0" indent="-342900">
              <a:buFont typeface="Arial" panose="020B0604020202020204" pitchFamily="34" charset="0"/>
              <a:buChar char="•"/>
            </a:pPr>
            <a:r>
              <a:rPr lang="en-IN" sz="1500" b="1" dirty="0"/>
              <a:t>Counter-Evidence Exploration:</a:t>
            </a:r>
            <a:r>
              <a:rPr lang="en-IN" sz="1500" dirty="0"/>
              <a:t> Actively retrieving contradictory findings to reduce confirmation bias.</a:t>
            </a:r>
          </a:p>
          <a:p>
            <a:pPr marL="342900" lvl="0" indent="-342900">
              <a:buFont typeface="Arial" panose="020B0604020202020204" pitchFamily="34" charset="0"/>
              <a:buChar char="•"/>
            </a:pPr>
            <a:r>
              <a:rPr lang="en-IN" sz="1500" b="1" dirty="0"/>
              <a:t>Source Evaluation and Retrieval Depth:</a:t>
            </a:r>
            <a:r>
              <a:rPr lang="en-IN" sz="1500" dirty="0"/>
              <a:t> Deduplicating sources and extracting focused passages to avoid context dilution in long papers.</a:t>
            </a:r>
          </a:p>
          <a:p>
            <a:pPr marL="342900" lvl="0" indent="-342900">
              <a:buFont typeface="Arial" panose="020B0604020202020204" pitchFamily="34" charset="0"/>
              <a:buChar char="•"/>
            </a:pPr>
            <a:r>
              <a:rPr lang="en-IN" sz="1500" b="1" dirty="0"/>
              <a:t>Evidence Traceability:</a:t>
            </a:r>
            <a:r>
              <a:rPr lang="en-IN" sz="1500" dirty="0"/>
              <a:t> Establishing clear mappings between generated claims and their supporting sources.</a:t>
            </a:r>
          </a:p>
          <a:p>
            <a:pPr marL="342900" lvl="0" indent="-342900">
              <a:buFont typeface="Arial" panose="020B0604020202020204" pitchFamily="34" charset="0"/>
              <a:buChar char="•"/>
            </a:pPr>
            <a:r>
              <a:rPr lang="en-IN" sz="1500" b="1" dirty="0"/>
              <a:t>Iterative Validation:</a:t>
            </a:r>
            <a:r>
              <a:rPr lang="en-IN" sz="1500" dirty="0"/>
              <a:t> Identifying evidence gaps and triggering additional retrieval when the available evidence is insufficient.</a:t>
            </a:r>
          </a:p>
          <a:p>
            <a:pPr>
              <a:buNone/>
            </a:pPr>
            <a:r>
              <a:rPr lang="en-IN" sz="1500" b="1" dirty="0"/>
              <a:t>Proposed Contribution:</a:t>
            </a:r>
            <a:r>
              <a:rPr lang="en-IN" sz="1500" dirty="0"/>
              <a:t> An integrated multi-agent framework that combines research planning, multi-source retrieval, evidence validation, and iterative re-search to generate structured, citation-supported research reports</a:t>
            </a:r>
            <a:r>
              <a:rPr lang="en-IN" dirty="0"/>
              <a:t>.</a:t>
            </a:r>
          </a:p>
        </p:txBody>
      </p:sp>
    </p:spTree>
    <p:extLst>
      <p:ext uri="{BB962C8B-B14F-4D97-AF65-F5344CB8AC3E}">
        <p14:creationId xmlns:p14="http://schemas.microsoft.com/office/powerpoint/2010/main" val="2507963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Objective</a:t>
            </a:r>
            <a:endParaRPr lang="en-IN" sz="3200" b="1" dirty="0">
              <a:solidFill>
                <a:srgbClr val="46B0FA"/>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04FB405-12F0-FADD-1916-3FDFDA9A583F}"/>
              </a:ext>
            </a:extLst>
          </p:cNvPr>
          <p:cNvSpPr txBox="1"/>
          <p:nvPr/>
        </p:nvSpPr>
        <p:spPr>
          <a:xfrm>
            <a:off x="544286" y="947874"/>
            <a:ext cx="10401300" cy="4801314"/>
          </a:xfrm>
          <a:prstGeom prst="rect">
            <a:avLst/>
          </a:prstGeom>
          <a:noFill/>
        </p:spPr>
        <p:txBody>
          <a:bodyPr wrap="square">
            <a:spAutoFit/>
          </a:bodyPr>
          <a:lstStyle/>
          <a:p>
            <a:pPr>
              <a:buNone/>
            </a:pPr>
            <a:r>
              <a:rPr lang="en-IN" sz="1600" b="1" dirty="0"/>
              <a:t>Main Objective</a:t>
            </a:r>
            <a:endParaRPr lang="en-IN" sz="1600" dirty="0"/>
          </a:p>
          <a:p>
            <a:pPr>
              <a:buNone/>
            </a:pPr>
            <a:r>
              <a:rPr lang="en-IN" sz="1600" dirty="0"/>
              <a:t>To develop an autonomous, evidence-driven research agent that systematically plans research, retrieves and validates information, and generates structured reports with traceable citations.</a:t>
            </a:r>
          </a:p>
          <a:p>
            <a:pPr>
              <a:buNone/>
            </a:pPr>
            <a:endParaRPr lang="en-IN" sz="1600" dirty="0"/>
          </a:p>
          <a:p>
            <a:pPr>
              <a:buNone/>
            </a:pPr>
            <a:r>
              <a:rPr lang="en-IN" sz="1600" b="1" dirty="0"/>
              <a:t>Sub-Objectives :</a:t>
            </a:r>
          </a:p>
          <a:p>
            <a:pPr>
              <a:buNone/>
            </a:pPr>
            <a:endParaRPr lang="en-IN" sz="1600" dirty="0"/>
          </a:p>
          <a:p>
            <a:pPr marL="342900" lvl="0" indent="-342900">
              <a:buFont typeface="+mj-lt"/>
              <a:buAutoNum type="arabicPeriod"/>
            </a:pPr>
            <a:r>
              <a:rPr lang="en-IN" sz="1600" b="1" dirty="0"/>
              <a:t>Research Planning:</a:t>
            </a:r>
            <a:r>
              <a:rPr lang="en-IN" sz="1600" dirty="0"/>
              <a:t> Decompose open-ended research topics into structured research questions, hypotheses, and evidence requirements.</a:t>
            </a:r>
          </a:p>
          <a:p>
            <a:pPr marL="342900" lvl="0" indent="-342900">
              <a:buFont typeface="+mj-lt"/>
              <a:buAutoNum type="arabicPeriod"/>
            </a:pPr>
            <a:endParaRPr lang="en-IN" sz="1600" dirty="0"/>
          </a:p>
          <a:p>
            <a:pPr marL="342900" lvl="0" indent="-342900">
              <a:buFont typeface="+mj-lt"/>
              <a:buAutoNum type="arabicPeriod"/>
            </a:pPr>
            <a:r>
              <a:rPr lang="en-IN" sz="1600" b="1" dirty="0"/>
              <a:t>Multi-Source Retrieval:</a:t>
            </a:r>
            <a:r>
              <a:rPr lang="en-IN" sz="1600" dirty="0"/>
              <a:t> Retrieve and rank candidate sources from </a:t>
            </a:r>
            <a:r>
              <a:rPr lang="en-IN" sz="1600" dirty="0" err="1"/>
              <a:t>Tavily</a:t>
            </a:r>
            <a:r>
              <a:rPr lang="en-IN" sz="1600" dirty="0"/>
              <a:t>, </a:t>
            </a:r>
            <a:r>
              <a:rPr lang="en-IN" sz="1600" dirty="0" err="1"/>
              <a:t>OpenAlex</a:t>
            </a:r>
            <a:r>
              <a:rPr lang="en-IN" sz="1600" dirty="0"/>
              <a:t>, and Semantic Scholar using a semantic indexing pipeline (BM25 + vector embeddings) and sliding-window PDF passage chunking.</a:t>
            </a:r>
          </a:p>
          <a:p>
            <a:pPr marL="342900" lvl="0" indent="-342900">
              <a:buFont typeface="+mj-lt"/>
              <a:buAutoNum type="arabicPeriod"/>
            </a:pPr>
            <a:endParaRPr lang="en-IN" sz="1600" dirty="0"/>
          </a:p>
          <a:p>
            <a:pPr marL="342900" lvl="0" indent="-342900">
              <a:buFont typeface="+mj-lt"/>
              <a:buAutoNum type="arabicPeriod"/>
            </a:pPr>
            <a:r>
              <a:rPr lang="en-IN" sz="1600" b="1" dirty="0"/>
              <a:t>Evidence Organization and Validation:</a:t>
            </a:r>
            <a:r>
              <a:rPr lang="en-IN" sz="1600" dirty="0"/>
              <a:t> Extract and organize evidence into structured records, assess source credibility, map claims to supporting evidence, and identify contradictions.</a:t>
            </a:r>
          </a:p>
          <a:p>
            <a:pPr marL="342900" lvl="0" indent="-342900">
              <a:buFont typeface="+mj-lt"/>
              <a:buAutoNum type="arabicPeriod"/>
            </a:pPr>
            <a:endParaRPr lang="en-IN" sz="1600" dirty="0"/>
          </a:p>
          <a:p>
            <a:pPr marL="342900" lvl="0" indent="-342900">
              <a:buFont typeface="+mj-lt"/>
              <a:buAutoNum type="arabicPeriod"/>
            </a:pPr>
            <a:r>
              <a:rPr lang="en-IN" sz="1600" b="1" dirty="0"/>
              <a:t>Evidence Sufficiency:</a:t>
            </a:r>
            <a:r>
              <a:rPr lang="en-IN" sz="1600" dirty="0"/>
              <a:t> Evaluate the adequacy of collected evidence and trigger additional retrieval when necessary.</a:t>
            </a:r>
          </a:p>
          <a:p>
            <a:pPr marL="342900" lvl="0" indent="-342900">
              <a:buFont typeface="+mj-lt"/>
              <a:buAutoNum type="arabicPeriod"/>
            </a:pPr>
            <a:endParaRPr lang="en-IN" sz="1600" dirty="0"/>
          </a:p>
          <a:p>
            <a:pPr marL="342900" lvl="0" indent="-342900">
              <a:buFont typeface="+mj-lt"/>
              <a:buAutoNum type="arabicPeriod"/>
            </a:pPr>
            <a:r>
              <a:rPr lang="en-IN" sz="1600" b="1" dirty="0"/>
              <a:t>Report Generation:</a:t>
            </a:r>
            <a:r>
              <a:rPr lang="en-IN" sz="1600" dirty="0"/>
              <a:t> Generate readable, well-structured research reports with evidence-supported conclusions and traceable citations</a:t>
            </a:r>
            <a:r>
              <a:rPr lang="en-IN" dirty="0"/>
              <a:t>.</a:t>
            </a:r>
          </a:p>
        </p:txBody>
      </p:sp>
    </p:spTree>
    <p:extLst>
      <p:ext uri="{BB962C8B-B14F-4D97-AF65-F5344CB8AC3E}">
        <p14:creationId xmlns:p14="http://schemas.microsoft.com/office/powerpoint/2010/main" val="2314005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1136580-D7A6-01E3-2771-22715A553F33}"/>
              </a:ext>
            </a:extLst>
          </p:cNvPr>
          <p:cNvSpPr/>
          <p:nvPr/>
        </p:nvSpPr>
        <p:spPr>
          <a:xfrm>
            <a:off x="365760" y="1143000"/>
            <a:ext cx="1234440" cy="1417320"/>
          </a:xfrm>
          <a:prstGeom prst="roundRect">
            <a:avLst>
              <a:gd name="adj" fmla="val 5926"/>
            </a:avLst>
          </a:prstGeom>
          <a:solidFill>
            <a:srgbClr val="F2F2F2"/>
          </a:solidFill>
          <a:ln w="19050">
            <a:solidFill>
              <a:srgbClr val="999999"/>
            </a:solidFill>
            <a:prstDash val="solid"/>
          </a:ln>
          <a:effectLst>
            <a:outerShdw blurRad="50800" dist="25400" dir="5400000" algn="bl" rotWithShape="0">
              <a:srgbClr val="888888">
                <a:alpha val="25000"/>
              </a:srgbClr>
            </a:outerShdw>
          </a:effectLst>
        </p:spPr>
      </p:sp>
      <p:sp>
        <p:nvSpPr>
          <p:cNvPr id="5" name="Text 3">
            <a:extLst>
              <a:ext uri="{FF2B5EF4-FFF2-40B4-BE49-F238E27FC236}">
                <a16:creationId xmlns:a16="http://schemas.microsoft.com/office/drawing/2014/main" id="{33D8861B-ABA8-FBCA-8C9B-47E5798294D2}"/>
              </a:ext>
            </a:extLst>
          </p:cNvPr>
          <p:cNvSpPr/>
          <p:nvPr/>
        </p:nvSpPr>
        <p:spPr>
          <a:xfrm>
            <a:off x="365760" y="1234440"/>
            <a:ext cx="123444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0000"/>
                </a:solidFill>
                <a:effectLst/>
                <a:uLnTx/>
                <a:uFillTx/>
                <a:latin typeface="Calibri" panose="020F0502020204030204"/>
                <a:ea typeface="+mn-ea"/>
                <a:cs typeface="+mn-cs"/>
              </a:rPr>
              <a:t>👤</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a:extLst>
              <a:ext uri="{FF2B5EF4-FFF2-40B4-BE49-F238E27FC236}">
                <a16:creationId xmlns:a16="http://schemas.microsoft.com/office/drawing/2014/main" id="{4D592073-858B-D70D-0587-253D918E5C9F}"/>
              </a:ext>
            </a:extLst>
          </p:cNvPr>
          <p:cNvSpPr/>
          <p:nvPr/>
        </p:nvSpPr>
        <p:spPr>
          <a:xfrm>
            <a:off x="365760" y="1709928"/>
            <a:ext cx="12344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USER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a:extLst>
              <a:ext uri="{FF2B5EF4-FFF2-40B4-BE49-F238E27FC236}">
                <a16:creationId xmlns:a16="http://schemas.microsoft.com/office/drawing/2014/main" id="{E38CC40A-151C-6469-FF32-7079F536BE86}"/>
              </a:ext>
            </a:extLst>
          </p:cNvPr>
          <p:cNvSpPr/>
          <p:nvPr/>
        </p:nvSpPr>
        <p:spPr>
          <a:xfrm>
            <a:off x="438912" y="2011680"/>
            <a:ext cx="1088136"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Research Question / Topic</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6">
            <a:extLst>
              <a:ext uri="{FF2B5EF4-FFF2-40B4-BE49-F238E27FC236}">
                <a16:creationId xmlns:a16="http://schemas.microsoft.com/office/drawing/2014/main" id="{45DCFB11-B82D-D9A9-F470-19CD498F22A3}"/>
              </a:ext>
            </a:extLst>
          </p:cNvPr>
          <p:cNvSpPr/>
          <p:nvPr/>
        </p:nvSpPr>
        <p:spPr>
          <a:xfrm>
            <a:off x="1828800" y="1143000"/>
            <a:ext cx="2331720" cy="2606040"/>
          </a:xfrm>
          <a:prstGeom prst="roundRect">
            <a:avLst>
              <a:gd name="adj" fmla="val 3137"/>
            </a:avLst>
          </a:prstGeom>
          <a:solidFill>
            <a:srgbClr val="E2EFDA"/>
          </a:solidFill>
          <a:ln w="19050">
            <a:solidFill>
              <a:srgbClr val="6AA84F"/>
            </a:solidFill>
            <a:prstDash val="solid"/>
          </a:ln>
          <a:effectLst>
            <a:outerShdw blurRad="50800" dist="25400" dir="5400000" algn="bl" rotWithShape="0">
              <a:srgbClr val="888888">
                <a:alpha val="25000"/>
              </a:srgbClr>
            </a:outerShdw>
          </a:effectLst>
        </p:spPr>
      </p:sp>
      <p:sp>
        <p:nvSpPr>
          <p:cNvPr id="13" name="Text 7">
            <a:extLst>
              <a:ext uri="{FF2B5EF4-FFF2-40B4-BE49-F238E27FC236}">
                <a16:creationId xmlns:a16="http://schemas.microsoft.com/office/drawing/2014/main" id="{FB1668B7-98CA-924F-C50F-7FBF8B456C74}"/>
              </a:ext>
            </a:extLst>
          </p:cNvPr>
          <p:cNvSpPr/>
          <p:nvPr/>
        </p:nvSpPr>
        <p:spPr>
          <a:xfrm>
            <a:off x="1938528" y="1234440"/>
            <a:ext cx="2112264" cy="566928"/>
          </a:xfrm>
          <a:prstGeom prst="rect">
            <a:avLst/>
          </a:prstGeom>
          <a:noFill/>
          <a:ln/>
        </p:spPr>
        <p:txBody>
          <a:bodyPr wrap="squar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74E13"/>
                </a:solidFill>
                <a:effectLst/>
                <a:uLnTx/>
                <a:uFillTx/>
                <a:latin typeface="Calibri" pitchFamily="34" charset="0"/>
                <a:ea typeface="Calibri" pitchFamily="34" charset="-122"/>
                <a:cs typeface="Calibri" pitchFamily="34" charset="-120"/>
              </a:rPr>
              <a:t>PHASE 1: RESEARCH PLANNER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8">
            <a:extLst>
              <a:ext uri="{FF2B5EF4-FFF2-40B4-BE49-F238E27FC236}">
                <a16:creationId xmlns:a16="http://schemas.microsoft.com/office/drawing/2014/main" id="{DF8AA1CC-F90B-4B4C-FD83-37D172C47469}"/>
              </a:ext>
            </a:extLst>
          </p:cNvPr>
          <p:cNvSpPr/>
          <p:nvPr/>
        </p:nvSpPr>
        <p:spPr>
          <a:xfrm>
            <a:off x="1938528" y="1856232"/>
            <a:ext cx="2112264" cy="1783080"/>
          </a:xfrm>
          <a:prstGeom prst="roundRect">
            <a:avLst>
              <a:gd name="adj" fmla="val 3077"/>
            </a:avLst>
          </a:prstGeom>
          <a:solidFill>
            <a:srgbClr val="FFFFFF"/>
          </a:solidFill>
          <a:ln w="12700">
            <a:solidFill>
              <a:srgbClr val="6AA84F"/>
            </a:solidFill>
            <a:prstDash val="solid"/>
          </a:ln>
        </p:spPr>
      </p:sp>
      <p:sp>
        <p:nvSpPr>
          <p:cNvPr id="17" name="Text 9">
            <a:extLst>
              <a:ext uri="{FF2B5EF4-FFF2-40B4-BE49-F238E27FC236}">
                <a16:creationId xmlns:a16="http://schemas.microsoft.com/office/drawing/2014/main" id="{B27F17D0-2B8D-B60C-25A5-6A31E06EF07D}"/>
              </a:ext>
            </a:extLst>
          </p:cNvPr>
          <p:cNvSpPr/>
          <p:nvPr/>
        </p:nvSpPr>
        <p:spPr>
          <a:xfrm>
            <a:off x="2011680" y="1911096"/>
            <a:ext cx="19659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274E13"/>
                </a:solidFill>
                <a:effectLst/>
                <a:uLnTx/>
                <a:uFillTx/>
                <a:latin typeface="Calibri" pitchFamily="34" charset="0"/>
                <a:ea typeface="Calibri" pitchFamily="34" charset="-122"/>
                <a:cs typeface="Calibri" pitchFamily="34" charset="-120"/>
              </a:rPr>
              <a:t>Planning Agent (LLM)</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0">
            <a:extLst>
              <a:ext uri="{FF2B5EF4-FFF2-40B4-BE49-F238E27FC236}">
                <a16:creationId xmlns:a16="http://schemas.microsoft.com/office/drawing/2014/main" id="{5B10F1D5-2D4D-535C-2772-0AD11064B712}"/>
              </a:ext>
            </a:extLst>
          </p:cNvPr>
          <p:cNvSpPr/>
          <p:nvPr/>
        </p:nvSpPr>
        <p:spPr>
          <a:xfrm>
            <a:off x="2011680" y="2185416"/>
            <a:ext cx="1965960" cy="1399032"/>
          </a:xfrm>
          <a:prstGeom prst="rect">
            <a:avLst/>
          </a:prstGeom>
          <a:noFill/>
          <a:ln/>
        </p:spPr>
        <p:txBody>
          <a:bodyPr wrap="square" lIns="0" tIns="0" rIns="0" bIns="0" rtlCol="0" anchor="t"/>
          <a:lstStyle/>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Working Hypothesis</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Competing Hypotheses</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Research Questions</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Evidence Requirements</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Search Strategy</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Source Quality Policy</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Stopping Criteria</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1">
            <a:extLst>
              <a:ext uri="{FF2B5EF4-FFF2-40B4-BE49-F238E27FC236}">
                <a16:creationId xmlns:a16="http://schemas.microsoft.com/office/drawing/2014/main" id="{7F7DF040-6496-EBFE-F70D-86729FD6C620}"/>
              </a:ext>
            </a:extLst>
          </p:cNvPr>
          <p:cNvSpPr/>
          <p:nvPr/>
        </p:nvSpPr>
        <p:spPr>
          <a:xfrm>
            <a:off x="4343400" y="1143000"/>
            <a:ext cx="2331720" cy="2606040"/>
          </a:xfrm>
          <a:prstGeom prst="roundRect">
            <a:avLst>
              <a:gd name="adj" fmla="val 3137"/>
            </a:avLst>
          </a:prstGeom>
          <a:solidFill>
            <a:srgbClr val="DCE6F7"/>
          </a:solidFill>
          <a:ln w="19050">
            <a:solidFill>
              <a:srgbClr val="4A86E8"/>
            </a:solidFill>
            <a:prstDash val="solid"/>
          </a:ln>
          <a:effectLst>
            <a:outerShdw blurRad="50800" dist="25400" dir="5400000" algn="bl" rotWithShape="0">
              <a:srgbClr val="888888">
                <a:alpha val="25000"/>
              </a:srgbClr>
            </a:outerShdw>
          </a:effectLst>
        </p:spPr>
      </p:sp>
      <p:sp>
        <p:nvSpPr>
          <p:cNvPr id="23" name="Text 12">
            <a:extLst>
              <a:ext uri="{FF2B5EF4-FFF2-40B4-BE49-F238E27FC236}">
                <a16:creationId xmlns:a16="http://schemas.microsoft.com/office/drawing/2014/main" id="{02B46445-A6B3-AB19-451D-D06CC4462109}"/>
              </a:ext>
            </a:extLst>
          </p:cNvPr>
          <p:cNvSpPr/>
          <p:nvPr/>
        </p:nvSpPr>
        <p:spPr>
          <a:xfrm>
            <a:off x="4453128" y="1234440"/>
            <a:ext cx="2112264" cy="566928"/>
          </a:xfrm>
          <a:prstGeom prst="rect">
            <a:avLst/>
          </a:prstGeom>
          <a:noFill/>
          <a:ln/>
        </p:spPr>
        <p:txBody>
          <a:bodyPr wrap="squar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C4587"/>
                </a:solidFill>
                <a:effectLst/>
                <a:uLnTx/>
                <a:uFillTx/>
                <a:latin typeface="Calibri" pitchFamily="34" charset="0"/>
                <a:ea typeface="Calibri" pitchFamily="34" charset="-122"/>
                <a:cs typeface="Calibri" pitchFamily="34" charset="-120"/>
              </a:rPr>
              <a:t>PHASE 2: RESEARCHER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13">
            <a:extLst>
              <a:ext uri="{FF2B5EF4-FFF2-40B4-BE49-F238E27FC236}">
                <a16:creationId xmlns:a16="http://schemas.microsoft.com/office/drawing/2014/main" id="{7ADBF417-BD8E-DC86-4CE5-3EDDB8DEB64A}"/>
              </a:ext>
            </a:extLst>
          </p:cNvPr>
          <p:cNvSpPr/>
          <p:nvPr/>
        </p:nvSpPr>
        <p:spPr>
          <a:xfrm>
            <a:off x="4453128" y="1856232"/>
            <a:ext cx="2112264" cy="1783080"/>
          </a:xfrm>
          <a:prstGeom prst="roundRect">
            <a:avLst>
              <a:gd name="adj" fmla="val 3077"/>
            </a:avLst>
          </a:prstGeom>
          <a:solidFill>
            <a:srgbClr val="FFFFFF"/>
          </a:solidFill>
          <a:ln w="12700">
            <a:solidFill>
              <a:srgbClr val="4A86E8"/>
            </a:solidFill>
            <a:prstDash val="solid"/>
          </a:ln>
        </p:spPr>
      </p:sp>
      <p:sp>
        <p:nvSpPr>
          <p:cNvPr id="27" name="Text 14">
            <a:extLst>
              <a:ext uri="{FF2B5EF4-FFF2-40B4-BE49-F238E27FC236}">
                <a16:creationId xmlns:a16="http://schemas.microsoft.com/office/drawing/2014/main" id="{A79F589F-FA7F-B6AF-B96B-D2678B1DEA51}"/>
              </a:ext>
            </a:extLst>
          </p:cNvPr>
          <p:cNvSpPr/>
          <p:nvPr/>
        </p:nvSpPr>
        <p:spPr>
          <a:xfrm>
            <a:off x="4526280" y="1911096"/>
            <a:ext cx="19659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C4587"/>
                </a:solidFill>
                <a:effectLst/>
                <a:uLnTx/>
                <a:uFillTx/>
                <a:latin typeface="Calibri" pitchFamily="34" charset="0"/>
                <a:ea typeface="Calibri" pitchFamily="34" charset="-122"/>
                <a:cs typeface="Calibri" pitchFamily="34" charset="-120"/>
              </a:rPr>
              <a:t>Research Agent Pipeline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15">
            <a:extLst>
              <a:ext uri="{FF2B5EF4-FFF2-40B4-BE49-F238E27FC236}">
                <a16:creationId xmlns:a16="http://schemas.microsoft.com/office/drawing/2014/main" id="{A9781F6D-F82E-BA9D-48C6-7D86A2D2BA3F}"/>
              </a:ext>
            </a:extLst>
          </p:cNvPr>
          <p:cNvSpPr/>
          <p:nvPr/>
        </p:nvSpPr>
        <p:spPr>
          <a:xfrm>
            <a:off x="4521381" y="2121408"/>
            <a:ext cx="1965960" cy="1399032"/>
          </a:xfrm>
          <a:prstGeom prst="rect">
            <a:avLst/>
          </a:prstGeom>
          <a:noFill/>
          <a:ln/>
        </p:spPr>
        <p:txBody>
          <a:bodyPr wrap="square" lIns="0" tIns="0" rIns="0" bIns="0" rtlCol="0" anchor="t"/>
          <a:lstStyle/>
          <a:p>
            <a:pPr marL="101600" lvl="0" indent="-101600">
              <a:buSzPct val="100000"/>
              <a:buFontTx/>
              <a:buChar char="•"/>
              <a:defRPr/>
            </a:pPr>
            <a:r>
              <a:rPr kumimoji="0" lang="en-US" sz="87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Multi-Query Generation</a:t>
            </a:r>
          </a:p>
          <a:p>
            <a:pPr marL="101600" lvl="0" indent="-101600">
              <a:buSzPct val="100000"/>
              <a:buFontTx/>
              <a:buChar char="•"/>
              <a:defRPr/>
            </a:pPr>
            <a:r>
              <a:rPr lang="en-US" sz="870" dirty="0">
                <a:solidFill>
                  <a:prstClr val="black"/>
                </a:solidFill>
                <a:latin typeface="Calibri" panose="020F0502020204030204" pitchFamily="34" charset="0"/>
                <a:ea typeface="Calibri" panose="020F0502020204030204" pitchFamily="34" charset="0"/>
                <a:cs typeface="Calibri" panose="020F0502020204030204" pitchFamily="34" charset="0"/>
              </a:rPr>
              <a:t>Tri-Provider Search</a:t>
            </a:r>
          </a:p>
          <a:p>
            <a:pPr marL="101600" lvl="0" indent="-101600">
              <a:buSzPct val="100000"/>
              <a:buFontTx/>
              <a:buChar char="•"/>
              <a:defRPr/>
            </a:pPr>
            <a:r>
              <a:rPr kumimoji="0" lang="en-US" sz="87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Multi-K</a:t>
            </a:r>
            <a:r>
              <a:rPr lang="en-US" sz="870" dirty="0" err="1">
                <a:solidFill>
                  <a:prstClr val="black"/>
                </a:solidFill>
                <a:latin typeface="Calibri" panose="020F0502020204030204" pitchFamily="34" charset="0"/>
                <a:ea typeface="Calibri" panose="020F0502020204030204" pitchFamily="34" charset="0"/>
                <a:cs typeface="Calibri" panose="020F0502020204030204" pitchFamily="34" charset="0"/>
              </a:rPr>
              <a:t>ey</a:t>
            </a:r>
            <a:r>
              <a:rPr lang="en-US" sz="870" dirty="0">
                <a:solidFill>
                  <a:prstClr val="black"/>
                </a:solidFill>
                <a:latin typeface="Calibri" panose="020F0502020204030204" pitchFamily="34" charset="0"/>
                <a:ea typeface="Calibri" panose="020F0502020204030204" pitchFamily="34" charset="0"/>
                <a:cs typeface="Calibri" panose="020F0502020204030204" pitchFamily="34" charset="0"/>
              </a:rPr>
              <a:t> Deduplication</a:t>
            </a:r>
          </a:p>
          <a:p>
            <a:pPr marL="101600" lvl="0" indent="-101600">
              <a:buSzPct val="100000"/>
              <a:buFontTx/>
              <a:buChar char="•"/>
              <a:defRPr/>
            </a:pPr>
            <a:r>
              <a:rPr kumimoji="0" lang="en-US" sz="87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Semantic Indexing</a:t>
            </a:r>
          </a:p>
          <a:p>
            <a:pPr marL="101600" lvl="0" indent="-101600">
              <a:buSzPct val="100000"/>
              <a:buFontTx/>
              <a:buChar char="•"/>
              <a:defRPr/>
            </a:pPr>
            <a:r>
              <a:rPr lang="en-US" sz="870" dirty="0">
                <a:solidFill>
                  <a:prstClr val="black"/>
                </a:solidFill>
                <a:latin typeface="Calibri" panose="020F0502020204030204" pitchFamily="34" charset="0"/>
                <a:ea typeface="Calibri" panose="020F0502020204030204" pitchFamily="34" charset="0"/>
                <a:cs typeface="Calibri" panose="020F0502020204030204" pitchFamily="34" charset="0"/>
              </a:rPr>
              <a:t>Dense Vector Embeddings &amp; Cosine Re-ranking</a:t>
            </a:r>
          </a:p>
          <a:p>
            <a:pPr marL="101600" lvl="0" indent="-101600">
              <a:buSzPct val="100000"/>
              <a:buFontTx/>
              <a:buChar char="•"/>
              <a:defRPr/>
            </a:pPr>
            <a:r>
              <a:rPr kumimoji="0" lang="en-US" sz="87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Two-Stage Filtering</a:t>
            </a:r>
          </a:p>
          <a:p>
            <a:pPr marL="101600" lvl="0" indent="-101600">
              <a:buSzPct val="100000"/>
              <a:buFontTx/>
              <a:buChar char="•"/>
              <a:defRPr/>
            </a:pPr>
            <a:r>
              <a:rPr lang="en-US" sz="870" dirty="0">
                <a:solidFill>
                  <a:prstClr val="black"/>
                </a:solidFill>
                <a:latin typeface="Calibri" panose="020F0502020204030204" pitchFamily="34" charset="0"/>
                <a:ea typeface="Calibri" panose="020F0502020204030204" pitchFamily="34" charset="0"/>
                <a:cs typeface="Calibri" panose="020F0502020204030204" pitchFamily="34" charset="0"/>
              </a:rPr>
              <a:t>Deep PDF Passage Chunking</a:t>
            </a:r>
            <a:endParaRPr kumimoji="0" lang="en-US" sz="87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1" name="Shape 16">
            <a:extLst>
              <a:ext uri="{FF2B5EF4-FFF2-40B4-BE49-F238E27FC236}">
                <a16:creationId xmlns:a16="http://schemas.microsoft.com/office/drawing/2014/main" id="{EBA8ED81-1AE1-40B5-F21C-F220E5201F66}"/>
              </a:ext>
            </a:extLst>
          </p:cNvPr>
          <p:cNvSpPr/>
          <p:nvPr/>
        </p:nvSpPr>
        <p:spPr>
          <a:xfrm>
            <a:off x="6858000" y="1143000"/>
            <a:ext cx="2331720" cy="2606040"/>
          </a:xfrm>
          <a:prstGeom prst="roundRect">
            <a:avLst>
              <a:gd name="adj" fmla="val 3137"/>
            </a:avLst>
          </a:prstGeom>
          <a:solidFill>
            <a:srgbClr val="FCE9D5"/>
          </a:solidFill>
          <a:ln w="19050">
            <a:solidFill>
              <a:srgbClr val="E69138"/>
            </a:solidFill>
            <a:prstDash val="solid"/>
          </a:ln>
          <a:effectLst>
            <a:outerShdw blurRad="50800" dist="25400" dir="5400000" algn="bl" rotWithShape="0">
              <a:srgbClr val="888888">
                <a:alpha val="25000"/>
              </a:srgbClr>
            </a:outerShdw>
          </a:effectLst>
        </p:spPr>
      </p:sp>
      <p:sp>
        <p:nvSpPr>
          <p:cNvPr id="33" name="Text 17">
            <a:extLst>
              <a:ext uri="{FF2B5EF4-FFF2-40B4-BE49-F238E27FC236}">
                <a16:creationId xmlns:a16="http://schemas.microsoft.com/office/drawing/2014/main" id="{4CCA030E-F02E-8EC6-46BB-41F8A914C25F}"/>
              </a:ext>
            </a:extLst>
          </p:cNvPr>
          <p:cNvSpPr/>
          <p:nvPr/>
        </p:nvSpPr>
        <p:spPr>
          <a:xfrm>
            <a:off x="6967728" y="1234440"/>
            <a:ext cx="2112264" cy="566928"/>
          </a:xfrm>
          <a:prstGeom prst="rect">
            <a:avLst/>
          </a:prstGeom>
          <a:noFill/>
          <a:ln/>
        </p:spPr>
        <p:txBody>
          <a:bodyPr wrap="squar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974F00"/>
                </a:solidFill>
                <a:effectLst/>
                <a:uLnTx/>
                <a:uFillTx/>
                <a:latin typeface="Calibri" pitchFamily="34" charset="0"/>
                <a:ea typeface="Calibri" pitchFamily="34" charset="-122"/>
                <a:cs typeface="Calibri" pitchFamily="34" charset="-120"/>
              </a:rPr>
              <a:t>PHASE 3: EVIDENCE VALIDATOR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18">
            <a:extLst>
              <a:ext uri="{FF2B5EF4-FFF2-40B4-BE49-F238E27FC236}">
                <a16:creationId xmlns:a16="http://schemas.microsoft.com/office/drawing/2014/main" id="{A01E2FD9-B673-5AF4-4274-DC1206C2B173}"/>
              </a:ext>
            </a:extLst>
          </p:cNvPr>
          <p:cNvSpPr/>
          <p:nvPr/>
        </p:nvSpPr>
        <p:spPr>
          <a:xfrm>
            <a:off x="6967728" y="1856232"/>
            <a:ext cx="2112264" cy="1783080"/>
          </a:xfrm>
          <a:prstGeom prst="roundRect">
            <a:avLst>
              <a:gd name="adj" fmla="val 3077"/>
            </a:avLst>
          </a:prstGeom>
          <a:solidFill>
            <a:srgbClr val="FFFFFF"/>
          </a:solidFill>
          <a:ln w="12700">
            <a:solidFill>
              <a:srgbClr val="E69138"/>
            </a:solidFill>
            <a:prstDash val="solid"/>
          </a:ln>
        </p:spPr>
      </p:sp>
      <p:sp>
        <p:nvSpPr>
          <p:cNvPr id="37" name="Text 19">
            <a:extLst>
              <a:ext uri="{FF2B5EF4-FFF2-40B4-BE49-F238E27FC236}">
                <a16:creationId xmlns:a16="http://schemas.microsoft.com/office/drawing/2014/main" id="{B8D21DA6-CB2C-F758-B6B5-E82CA920D218}"/>
              </a:ext>
            </a:extLst>
          </p:cNvPr>
          <p:cNvSpPr/>
          <p:nvPr/>
        </p:nvSpPr>
        <p:spPr>
          <a:xfrm>
            <a:off x="7040880" y="1911096"/>
            <a:ext cx="19659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974F00"/>
                </a:solidFill>
                <a:effectLst/>
                <a:uLnTx/>
                <a:uFillTx/>
                <a:latin typeface="Calibri" pitchFamily="34" charset="0"/>
                <a:ea typeface="Calibri" pitchFamily="34" charset="-122"/>
                <a:cs typeface="Calibri" pitchFamily="34" charset="-120"/>
              </a:rPr>
              <a:t>Validation &amp; Reasoning Agent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20">
            <a:extLst>
              <a:ext uri="{FF2B5EF4-FFF2-40B4-BE49-F238E27FC236}">
                <a16:creationId xmlns:a16="http://schemas.microsoft.com/office/drawing/2014/main" id="{637BBB93-A97E-6053-91F3-BAAE23892F72}"/>
              </a:ext>
            </a:extLst>
          </p:cNvPr>
          <p:cNvSpPr/>
          <p:nvPr/>
        </p:nvSpPr>
        <p:spPr>
          <a:xfrm>
            <a:off x="7040880" y="2185416"/>
            <a:ext cx="1965960" cy="1399032"/>
          </a:xfrm>
          <a:prstGeom prst="rect">
            <a:avLst/>
          </a:prstGeom>
          <a:noFill/>
          <a:ln/>
        </p:spPr>
        <p:txBody>
          <a:bodyPr wrap="square" lIns="0" tIns="0" rIns="0" bIns="0" rtlCol="0" anchor="t"/>
          <a:lstStyle/>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Evidence Quality Assessment</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Claim ↔ Evidence Mapping</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Source Reliability Scoring</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Contradiction Detection</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Hypothesis Evaluation</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Evidence Sufficiency Check</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Autonomous Re-search Trigger</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21">
            <a:extLst>
              <a:ext uri="{FF2B5EF4-FFF2-40B4-BE49-F238E27FC236}">
                <a16:creationId xmlns:a16="http://schemas.microsoft.com/office/drawing/2014/main" id="{A9B9F952-9C24-EED3-DF55-364735B981DB}"/>
              </a:ext>
            </a:extLst>
          </p:cNvPr>
          <p:cNvSpPr/>
          <p:nvPr/>
        </p:nvSpPr>
        <p:spPr>
          <a:xfrm>
            <a:off x="9372600" y="1143000"/>
            <a:ext cx="2331720" cy="2606040"/>
          </a:xfrm>
          <a:prstGeom prst="roundRect">
            <a:avLst>
              <a:gd name="adj" fmla="val 3137"/>
            </a:avLst>
          </a:prstGeom>
          <a:solidFill>
            <a:srgbClr val="EAD9F5"/>
          </a:solidFill>
          <a:ln w="19050">
            <a:solidFill>
              <a:srgbClr val="8E5FC7"/>
            </a:solidFill>
            <a:prstDash val="solid"/>
          </a:ln>
          <a:effectLst>
            <a:outerShdw blurRad="50800" dist="25400" dir="5400000" algn="bl" rotWithShape="0">
              <a:srgbClr val="888888">
                <a:alpha val="25000"/>
              </a:srgbClr>
            </a:outerShdw>
          </a:effectLst>
        </p:spPr>
      </p:sp>
      <p:sp>
        <p:nvSpPr>
          <p:cNvPr id="43" name="Text 22">
            <a:extLst>
              <a:ext uri="{FF2B5EF4-FFF2-40B4-BE49-F238E27FC236}">
                <a16:creationId xmlns:a16="http://schemas.microsoft.com/office/drawing/2014/main" id="{5E21E618-0F4B-A471-4D3E-8E18CD7B388D}"/>
              </a:ext>
            </a:extLst>
          </p:cNvPr>
          <p:cNvSpPr/>
          <p:nvPr/>
        </p:nvSpPr>
        <p:spPr>
          <a:xfrm>
            <a:off x="9482328" y="1234440"/>
            <a:ext cx="2112264" cy="566928"/>
          </a:xfrm>
          <a:prstGeom prst="rect">
            <a:avLst/>
          </a:prstGeom>
          <a:noFill/>
          <a:ln/>
        </p:spPr>
        <p:txBody>
          <a:bodyPr wrap="square" lIns="0" tIns="0" rIns="0" bIns="0" rtlCol="0" anchor="ctr"/>
          <a:lstStyle/>
          <a:p>
            <a:pPr marL="0" marR="0" lvl="0" indent="0" algn="ctr"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4A1A6B"/>
                </a:solidFill>
                <a:effectLst/>
                <a:uLnTx/>
                <a:uFillTx/>
                <a:latin typeface="Calibri" pitchFamily="34" charset="0"/>
                <a:ea typeface="Calibri" pitchFamily="34" charset="-122"/>
                <a:cs typeface="Calibri" pitchFamily="34" charset="-120"/>
              </a:rPr>
              <a:t>PHASE 4: REPORT GENERATOR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23">
            <a:extLst>
              <a:ext uri="{FF2B5EF4-FFF2-40B4-BE49-F238E27FC236}">
                <a16:creationId xmlns:a16="http://schemas.microsoft.com/office/drawing/2014/main" id="{F95BF651-B7C6-9918-85D6-3054C1D42C18}"/>
              </a:ext>
            </a:extLst>
          </p:cNvPr>
          <p:cNvSpPr/>
          <p:nvPr/>
        </p:nvSpPr>
        <p:spPr>
          <a:xfrm>
            <a:off x="9482328" y="1856232"/>
            <a:ext cx="2112264" cy="1783080"/>
          </a:xfrm>
          <a:prstGeom prst="roundRect">
            <a:avLst>
              <a:gd name="adj" fmla="val 3077"/>
            </a:avLst>
          </a:prstGeom>
          <a:solidFill>
            <a:srgbClr val="FFFFFF"/>
          </a:solidFill>
          <a:ln w="12700">
            <a:solidFill>
              <a:srgbClr val="8E5FC7"/>
            </a:solidFill>
            <a:prstDash val="solid"/>
          </a:ln>
        </p:spPr>
      </p:sp>
      <p:sp>
        <p:nvSpPr>
          <p:cNvPr id="47" name="Text 24">
            <a:extLst>
              <a:ext uri="{FF2B5EF4-FFF2-40B4-BE49-F238E27FC236}">
                <a16:creationId xmlns:a16="http://schemas.microsoft.com/office/drawing/2014/main" id="{03943228-E439-77EB-1FC5-860966CDA3B9}"/>
              </a:ext>
            </a:extLst>
          </p:cNvPr>
          <p:cNvSpPr/>
          <p:nvPr/>
        </p:nvSpPr>
        <p:spPr>
          <a:xfrm>
            <a:off x="9555480" y="1911096"/>
            <a:ext cx="19659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4A1A6B"/>
                </a:solidFill>
                <a:effectLst/>
                <a:uLnTx/>
                <a:uFillTx/>
                <a:latin typeface="Calibri" pitchFamily="34" charset="0"/>
                <a:ea typeface="Calibri" pitchFamily="34" charset="-122"/>
                <a:cs typeface="Calibri" pitchFamily="34" charset="-120"/>
              </a:rPr>
              <a:t>Report Generation Agent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25">
            <a:extLst>
              <a:ext uri="{FF2B5EF4-FFF2-40B4-BE49-F238E27FC236}">
                <a16:creationId xmlns:a16="http://schemas.microsoft.com/office/drawing/2014/main" id="{C1EC29F2-8BE8-8866-F9A7-D73B71A39179}"/>
              </a:ext>
            </a:extLst>
          </p:cNvPr>
          <p:cNvSpPr/>
          <p:nvPr/>
        </p:nvSpPr>
        <p:spPr>
          <a:xfrm>
            <a:off x="9555480" y="2185416"/>
            <a:ext cx="1965960" cy="1399032"/>
          </a:xfrm>
          <a:prstGeom prst="rect">
            <a:avLst/>
          </a:prstGeom>
          <a:noFill/>
          <a:ln/>
        </p:spPr>
        <p:txBody>
          <a:bodyPr wrap="square" lIns="0" tIns="0" rIns="0" bIns="0" rtlCol="0" anchor="t"/>
          <a:lstStyle/>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Scientific Report Generation</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Executive Summary</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Evidence-Based Conclusions</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Claim Support Tables</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Citations &amp; References</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Confidence Presentation</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101600" marR="0" lvl="0" indent="-101600" algn="l" defTabSz="914400" rtl="0" eaLnBrk="1" fontAlgn="auto" latinLnBrk="0" hangingPunct="1">
              <a:lnSpc>
                <a:spcPct val="108000"/>
              </a:lnSpc>
              <a:spcBef>
                <a:spcPts val="0"/>
              </a:spcBef>
              <a:spcAft>
                <a:spcPts val="0"/>
              </a:spcAft>
              <a:buClrTx/>
              <a:buSzPct val="100000"/>
              <a:buFontTx/>
              <a:buChar char="•"/>
              <a:tabLst/>
              <a:defRPr/>
            </a:pPr>
            <a:r>
              <a:rPr kumimoji="0" lang="en-US" sz="870" b="0" i="0" u="none" strike="noStrike" kern="1200" cap="none" spc="0" normalizeH="0" baseline="0" noProof="0" dirty="0">
                <a:ln>
                  <a:noFill/>
                </a:ln>
                <a:solidFill>
                  <a:srgbClr val="333333"/>
                </a:solidFill>
                <a:effectLst/>
                <a:uLnTx/>
                <a:uFillTx/>
                <a:latin typeface="Calibri" pitchFamily="34" charset="0"/>
                <a:ea typeface="Calibri" pitchFamily="34" charset="-122"/>
                <a:cs typeface="Calibri" pitchFamily="34" charset="-120"/>
              </a:rPr>
              <a:t>Structured Report (PDF/MD/HTML)</a:t>
            </a:r>
            <a:endParaRPr kumimoji="0" lang="en-US" sz="87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26">
            <a:extLst>
              <a:ext uri="{FF2B5EF4-FFF2-40B4-BE49-F238E27FC236}">
                <a16:creationId xmlns:a16="http://schemas.microsoft.com/office/drawing/2014/main" id="{F2A61A1C-6E2B-1643-00EE-8D6FEEE0B0A9}"/>
              </a:ext>
            </a:extLst>
          </p:cNvPr>
          <p:cNvSpPr/>
          <p:nvPr/>
        </p:nvSpPr>
        <p:spPr>
          <a:xfrm>
            <a:off x="1600200" y="2057400"/>
            <a:ext cx="228600" cy="0"/>
          </a:xfrm>
          <a:prstGeom prst="line">
            <a:avLst/>
          </a:prstGeom>
          <a:noFill/>
          <a:ln w="22225">
            <a:solidFill>
              <a:srgbClr val="666666"/>
            </a:solidFill>
            <a:prstDash val="solid"/>
            <a:tailEnd type="triangle"/>
          </a:ln>
        </p:spPr>
      </p:sp>
      <p:sp>
        <p:nvSpPr>
          <p:cNvPr id="53" name="Shape 27">
            <a:extLst>
              <a:ext uri="{FF2B5EF4-FFF2-40B4-BE49-F238E27FC236}">
                <a16:creationId xmlns:a16="http://schemas.microsoft.com/office/drawing/2014/main" id="{A735A7BF-CBB2-325D-888D-657A227B0A77}"/>
              </a:ext>
            </a:extLst>
          </p:cNvPr>
          <p:cNvSpPr/>
          <p:nvPr/>
        </p:nvSpPr>
        <p:spPr>
          <a:xfrm>
            <a:off x="4160520" y="2057400"/>
            <a:ext cx="182880" cy="0"/>
          </a:xfrm>
          <a:prstGeom prst="line">
            <a:avLst/>
          </a:prstGeom>
          <a:noFill/>
          <a:ln w="22225">
            <a:solidFill>
              <a:srgbClr val="666666"/>
            </a:solidFill>
            <a:prstDash val="solid"/>
            <a:tailEnd type="triangle"/>
          </a:ln>
        </p:spPr>
      </p:sp>
      <p:sp>
        <p:nvSpPr>
          <p:cNvPr id="55" name="Shape 28">
            <a:extLst>
              <a:ext uri="{FF2B5EF4-FFF2-40B4-BE49-F238E27FC236}">
                <a16:creationId xmlns:a16="http://schemas.microsoft.com/office/drawing/2014/main" id="{0188169C-85EC-1389-2F9C-B1594114155F}"/>
              </a:ext>
            </a:extLst>
          </p:cNvPr>
          <p:cNvSpPr/>
          <p:nvPr/>
        </p:nvSpPr>
        <p:spPr>
          <a:xfrm>
            <a:off x="6675120" y="2057400"/>
            <a:ext cx="182880" cy="0"/>
          </a:xfrm>
          <a:prstGeom prst="line">
            <a:avLst/>
          </a:prstGeom>
          <a:noFill/>
          <a:ln w="22225">
            <a:solidFill>
              <a:srgbClr val="666666"/>
            </a:solidFill>
            <a:prstDash val="solid"/>
            <a:tailEnd type="triangle"/>
          </a:ln>
        </p:spPr>
      </p:sp>
      <p:sp>
        <p:nvSpPr>
          <p:cNvPr id="57" name="Shape 29">
            <a:extLst>
              <a:ext uri="{FF2B5EF4-FFF2-40B4-BE49-F238E27FC236}">
                <a16:creationId xmlns:a16="http://schemas.microsoft.com/office/drawing/2014/main" id="{E4E5D0F7-F3D5-A126-681A-24FB41566AEC}"/>
              </a:ext>
            </a:extLst>
          </p:cNvPr>
          <p:cNvSpPr/>
          <p:nvPr/>
        </p:nvSpPr>
        <p:spPr>
          <a:xfrm>
            <a:off x="9189720" y="2057400"/>
            <a:ext cx="182880" cy="0"/>
          </a:xfrm>
          <a:prstGeom prst="line">
            <a:avLst/>
          </a:prstGeom>
          <a:noFill/>
          <a:ln w="22225">
            <a:solidFill>
              <a:srgbClr val="666666"/>
            </a:solidFill>
            <a:prstDash val="solid"/>
            <a:tailEnd type="triangle"/>
          </a:ln>
        </p:spPr>
      </p:sp>
      <p:sp>
        <p:nvSpPr>
          <p:cNvPr id="59" name="Shape 30">
            <a:extLst>
              <a:ext uri="{FF2B5EF4-FFF2-40B4-BE49-F238E27FC236}">
                <a16:creationId xmlns:a16="http://schemas.microsoft.com/office/drawing/2014/main" id="{A882867D-4304-C2C9-5A53-E89AC6977812}"/>
              </a:ext>
            </a:extLst>
          </p:cNvPr>
          <p:cNvSpPr/>
          <p:nvPr/>
        </p:nvSpPr>
        <p:spPr>
          <a:xfrm>
            <a:off x="1828800" y="4069080"/>
            <a:ext cx="2331720" cy="1051560"/>
          </a:xfrm>
          <a:prstGeom prst="roundRect">
            <a:avLst>
              <a:gd name="adj" fmla="val 6957"/>
            </a:avLst>
          </a:prstGeom>
          <a:solidFill>
            <a:srgbClr val="FFFFFF"/>
          </a:solidFill>
          <a:ln w="19050">
            <a:solidFill>
              <a:srgbClr val="6AA84F"/>
            </a:solidFill>
            <a:prstDash val="solid"/>
          </a:ln>
          <a:effectLst>
            <a:outerShdw blurRad="50800" dist="25400" dir="5400000" algn="bl" rotWithShape="0">
              <a:srgbClr val="888888">
                <a:alpha val="25000"/>
              </a:srgbClr>
            </a:outerShdw>
          </a:effectLst>
        </p:spPr>
      </p:sp>
      <p:sp>
        <p:nvSpPr>
          <p:cNvPr id="61" name="Text 31">
            <a:extLst>
              <a:ext uri="{FF2B5EF4-FFF2-40B4-BE49-F238E27FC236}">
                <a16:creationId xmlns:a16="http://schemas.microsoft.com/office/drawing/2014/main" id="{6F28AF78-616D-3865-E189-F88CE3A6DAC5}"/>
              </a:ext>
            </a:extLst>
          </p:cNvPr>
          <p:cNvSpPr/>
          <p:nvPr/>
        </p:nvSpPr>
        <p:spPr>
          <a:xfrm>
            <a:off x="1920240" y="4142232"/>
            <a:ext cx="502920" cy="237744"/>
          </a:xfrm>
          <a:prstGeom prst="rect">
            <a:avLst/>
          </a:prstGeom>
          <a:solidFill>
            <a:srgbClr val="6AA84F"/>
          </a:solid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JSON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Text 32">
            <a:extLst>
              <a:ext uri="{FF2B5EF4-FFF2-40B4-BE49-F238E27FC236}">
                <a16:creationId xmlns:a16="http://schemas.microsoft.com/office/drawing/2014/main" id="{393EA421-704B-BA3A-5228-F4A8DF647E9F}"/>
              </a:ext>
            </a:extLst>
          </p:cNvPr>
          <p:cNvSpPr/>
          <p:nvPr/>
        </p:nvSpPr>
        <p:spPr>
          <a:xfrm>
            <a:off x="1920240" y="4416552"/>
            <a:ext cx="214884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274E13"/>
                </a:solidFill>
                <a:effectLst/>
                <a:uLnTx/>
                <a:uFillTx/>
                <a:latin typeface="Calibri" pitchFamily="34" charset="0"/>
                <a:ea typeface="Calibri" pitchFamily="34" charset="-122"/>
                <a:cs typeface="Calibri" pitchFamily="34" charset="-120"/>
              </a:rPr>
              <a:t>research_plan.json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5" name="Text 33">
            <a:extLst>
              <a:ext uri="{FF2B5EF4-FFF2-40B4-BE49-F238E27FC236}">
                <a16:creationId xmlns:a16="http://schemas.microsoft.com/office/drawing/2014/main" id="{2BFF876C-DD47-90D7-09C6-4B2063C4B8D3}"/>
              </a:ext>
            </a:extLst>
          </p:cNvPr>
          <p:cNvSpPr/>
          <p:nvPr/>
        </p:nvSpPr>
        <p:spPr>
          <a:xfrm>
            <a:off x="1920240" y="4727448"/>
            <a:ext cx="21488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Contract between Phase 1 &amp; Phase 2</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Shape 34">
            <a:extLst>
              <a:ext uri="{FF2B5EF4-FFF2-40B4-BE49-F238E27FC236}">
                <a16:creationId xmlns:a16="http://schemas.microsoft.com/office/drawing/2014/main" id="{18CB8372-62E7-FA04-7508-8D26A057E148}"/>
              </a:ext>
            </a:extLst>
          </p:cNvPr>
          <p:cNvSpPr/>
          <p:nvPr/>
        </p:nvSpPr>
        <p:spPr>
          <a:xfrm>
            <a:off x="4343400" y="4069080"/>
            <a:ext cx="2331720" cy="1051560"/>
          </a:xfrm>
          <a:prstGeom prst="roundRect">
            <a:avLst>
              <a:gd name="adj" fmla="val 6957"/>
            </a:avLst>
          </a:prstGeom>
          <a:solidFill>
            <a:srgbClr val="FFFFFF"/>
          </a:solidFill>
          <a:ln w="19050">
            <a:solidFill>
              <a:srgbClr val="4A86E8"/>
            </a:solidFill>
            <a:prstDash val="solid"/>
          </a:ln>
          <a:effectLst>
            <a:outerShdw blurRad="50800" dist="25400" dir="5400000" algn="bl" rotWithShape="0">
              <a:srgbClr val="888888">
                <a:alpha val="25000"/>
              </a:srgbClr>
            </a:outerShdw>
          </a:effectLst>
        </p:spPr>
      </p:sp>
      <p:sp>
        <p:nvSpPr>
          <p:cNvPr id="69" name="Text 35">
            <a:extLst>
              <a:ext uri="{FF2B5EF4-FFF2-40B4-BE49-F238E27FC236}">
                <a16:creationId xmlns:a16="http://schemas.microsoft.com/office/drawing/2014/main" id="{83861001-BD9A-2D33-4CC0-0970A3CAF55A}"/>
              </a:ext>
            </a:extLst>
          </p:cNvPr>
          <p:cNvSpPr/>
          <p:nvPr/>
        </p:nvSpPr>
        <p:spPr>
          <a:xfrm>
            <a:off x="4434840" y="4142232"/>
            <a:ext cx="502920" cy="237744"/>
          </a:xfrm>
          <a:prstGeom prst="rect">
            <a:avLst/>
          </a:prstGeom>
          <a:solidFill>
            <a:srgbClr val="4A86E8"/>
          </a:solid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JSON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Text 36">
            <a:extLst>
              <a:ext uri="{FF2B5EF4-FFF2-40B4-BE49-F238E27FC236}">
                <a16:creationId xmlns:a16="http://schemas.microsoft.com/office/drawing/2014/main" id="{111C558A-5E10-B197-FF42-05B11236A8A7}"/>
              </a:ext>
            </a:extLst>
          </p:cNvPr>
          <p:cNvSpPr/>
          <p:nvPr/>
        </p:nvSpPr>
        <p:spPr>
          <a:xfrm>
            <a:off x="4434840" y="4416552"/>
            <a:ext cx="214884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C4587"/>
                </a:solidFill>
                <a:effectLst/>
                <a:uLnTx/>
                <a:uFillTx/>
                <a:latin typeface="Calibri" pitchFamily="34" charset="0"/>
                <a:ea typeface="Calibri" pitchFamily="34" charset="-122"/>
                <a:cs typeface="Calibri" pitchFamily="34" charset="-120"/>
              </a:rPr>
              <a:t>research_evidence.json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 37">
            <a:extLst>
              <a:ext uri="{FF2B5EF4-FFF2-40B4-BE49-F238E27FC236}">
                <a16:creationId xmlns:a16="http://schemas.microsoft.com/office/drawing/2014/main" id="{0EEE5550-FDEF-E76E-C9A8-905E37C60077}"/>
              </a:ext>
            </a:extLst>
          </p:cNvPr>
          <p:cNvSpPr/>
          <p:nvPr/>
        </p:nvSpPr>
        <p:spPr>
          <a:xfrm>
            <a:off x="4434840" y="4727448"/>
            <a:ext cx="21488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Structured findings, evidence, sources, gaps, summary</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Shape 38">
            <a:extLst>
              <a:ext uri="{FF2B5EF4-FFF2-40B4-BE49-F238E27FC236}">
                <a16:creationId xmlns:a16="http://schemas.microsoft.com/office/drawing/2014/main" id="{0217B422-8A84-9D67-D07B-823A881B4337}"/>
              </a:ext>
            </a:extLst>
          </p:cNvPr>
          <p:cNvSpPr/>
          <p:nvPr/>
        </p:nvSpPr>
        <p:spPr>
          <a:xfrm>
            <a:off x="6858000" y="4069080"/>
            <a:ext cx="2331720" cy="1051560"/>
          </a:xfrm>
          <a:prstGeom prst="roundRect">
            <a:avLst>
              <a:gd name="adj" fmla="val 6957"/>
            </a:avLst>
          </a:prstGeom>
          <a:solidFill>
            <a:srgbClr val="FFFFFF"/>
          </a:solidFill>
          <a:ln w="19050">
            <a:solidFill>
              <a:srgbClr val="E69138"/>
            </a:solidFill>
            <a:prstDash val="solid"/>
          </a:ln>
          <a:effectLst>
            <a:outerShdw blurRad="50800" dist="25400" dir="5400000" algn="bl" rotWithShape="0">
              <a:srgbClr val="888888">
                <a:alpha val="25000"/>
              </a:srgbClr>
            </a:outerShdw>
          </a:effectLst>
        </p:spPr>
      </p:sp>
      <p:sp>
        <p:nvSpPr>
          <p:cNvPr id="77" name="Text 39">
            <a:extLst>
              <a:ext uri="{FF2B5EF4-FFF2-40B4-BE49-F238E27FC236}">
                <a16:creationId xmlns:a16="http://schemas.microsoft.com/office/drawing/2014/main" id="{3949C3E7-3637-7A5F-3C6A-05E175E27780}"/>
              </a:ext>
            </a:extLst>
          </p:cNvPr>
          <p:cNvSpPr/>
          <p:nvPr/>
        </p:nvSpPr>
        <p:spPr>
          <a:xfrm>
            <a:off x="6949440" y="4142232"/>
            <a:ext cx="502920" cy="237744"/>
          </a:xfrm>
          <a:prstGeom prst="rect">
            <a:avLst/>
          </a:prstGeom>
          <a:solidFill>
            <a:srgbClr val="E69138"/>
          </a:solid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JSON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Text 40">
            <a:extLst>
              <a:ext uri="{FF2B5EF4-FFF2-40B4-BE49-F238E27FC236}">
                <a16:creationId xmlns:a16="http://schemas.microsoft.com/office/drawing/2014/main" id="{CCF91BFE-FA0F-D285-2449-DB84AE3CBDEA}"/>
              </a:ext>
            </a:extLst>
          </p:cNvPr>
          <p:cNvSpPr/>
          <p:nvPr/>
        </p:nvSpPr>
        <p:spPr>
          <a:xfrm>
            <a:off x="6949440" y="4416552"/>
            <a:ext cx="214884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974F00"/>
                </a:solidFill>
                <a:effectLst/>
                <a:uLnTx/>
                <a:uFillTx/>
                <a:latin typeface="Calibri" pitchFamily="34" charset="0"/>
                <a:ea typeface="Calibri" pitchFamily="34" charset="-122"/>
                <a:cs typeface="Calibri" pitchFamily="34" charset="-120"/>
              </a:rPr>
              <a:t>validated_evidence.json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Text 41">
            <a:extLst>
              <a:ext uri="{FF2B5EF4-FFF2-40B4-BE49-F238E27FC236}">
                <a16:creationId xmlns:a16="http://schemas.microsoft.com/office/drawing/2014/main" id="{18D01783-0A04-6FA1-D8BB-A76CC186AAE7}"/>
              </a:ext>
            </a:extLst>
          </p:cNvPr>
          <p:cNvSpPr/>
          <p:nvPr/>
        </p:nvSpPr>
        <p:spPr>
          <a:xfrm>
            <a:off x="6949440" y="4727448"/>
            <a:ext cx="21488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Validated claims, confidence scores, conflicts, gaps</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Shape 42">
            <a:extLst>
              <a:ext uri="{FF2B5EF4-FFF2-40B4-BE49-F238E27FC236}">
                <a16:creationId xmlns:a16="http://schemas.microsoft.com/office/drawing/2014/main" id="{FBD85827-9E9F-C96D-283B-7586EA141C13}"/>
              </a:ext>
            </a:extLst>
          </p:cNvPr>
          <p:cNvSpPr/>
          <p:nvPr/>
        </p:nvSpPr>
        <p:spPr>
          <a:xfrm>
            <a:off x="9372600" y="4069080"/>
            <a:ext cx="2331720" cy="1051560"/>
          </a:xfrm>
          <a:prstGeom prst="roundRect">
            <a:avLst>
              <a:gd name="adj" fmla="val 6957"/>
            </a:avLst>
          </a:prstGeom>
          <a:solidFill>
            <a:srgbClr val="FFFFFF"/>
          </a:solidFill>
          <a:ln w="19050">
            <a:solidFill>
              <a:srgbClr val="8E5FC7"/>
            </a:solidFill>
            <a:prstDash val="solid"/>
          </a:ln>
          <a:effectLst>
            <a:outerShdw blurRad="50800" dist="25400" dir="5400000" algn="bl" rotWithShape="0">
              <a:srgbClr val="888888">
                <a:alpha val="25000"/>
              </a:srgbClr>
            </a:outerShdw>
          </a:effectLst>
        </p:spPr>
      </p:sp>
      <p:sp>
        <p:nvSpPr>
          <p:cNvPr id="85" name="Text 43">
            <a:extLst>
              <a:ext uri="{FF2B5EF4-FFF2-40B4-BE49-F238E27FC236}">
                <a16:creationId xmlns:a16="http://schemas.microsoft.com/office/drawing/2014/main" id="{0B231C62-FF30-B98D-C68A-6759B2A535A4}"/>
              </a:ext>
            </a:extLst>
          </p:cNvPr>
          <p:cNvSpPr/>
          <p:nvPr/>
        </p:nvSpPr>
        <p:spPr>
          <a:xfrm>
            <a:off x="9464040" y="4142232"/>
            <a:ext cx="502920" cy="237744"/>
          </a:xfrm>
          <a:prstGeom prst="rect">
            <a:avLst/>
          </a:prstGeom>
          <a:solidFill>
            <a:srgbClr val="8E5FC7"/>
          </a:solidFill>
          <a:ln/>
        </p:spPr>
        <p:txBody>
          <a:bodyPr wrap="square" lIns="12700" tIns="12700" rIns="12700" bIns="127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JSON</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Text 44">
            <a:extLst>
              <a:ext uri="{FF2B5EF4-FFF2-40B4-BE49-F238E27FC236}">
                <a16:creationId xmlns:a16="http://schemas.microsoft.com/office/drawing/2014/main" id="{DEB3D1CC-1F8F-6442-0362-E64EEA685CA5}"/>
              </a:ext>
            </a:extLst>
          </p:cNvPr>
          <p:cNvSpPr/>
          <p:nvPr/>
        </p:nvSpPr>
        <p:spPr>
          <a:xfrm>
            <a:off x="9464040" y="4416552"/>
            <a:ext cx="214884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4A1A6B"/>
                </a:solidFill>
                <a:effectLst/>
                <a:uLnTx/>
                <a:uFillTx/>
                <a:latin typeface="Calibri" pitchFamily="34" charset="0"/>
                <a:ea typeface="Calibri" pitchFamily="34" charset="-122"/>
                <a:cs typeface="Calibri" pitchFamily="34" charset="-120"/>
              </a:rPr>
              <a:t>research_report.pdf / .md / .html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Text 45">
            <a:extLst>
              <a:ext uri="{FF2B5EF4-FFF2-40B4-BE49-F238E27FC236}">
                <a16:creationId xmlns:a16="http://schemas.microsoft.com/office/drawing/2014/main" id="{FD08B35C-FA73-D64A-DB57-0C83F23851F7}"/>
              </a:ext>
            </a:extLst>
          </p:cNvPr>
          <p:cNvSpPr/>
          <p:nvPr/>
        </p:nvSpPr>
        <p:spPr>
          <a:xfrm>
            <a:off x="9464040" y="4727448"/>
            <a:ext cx="21488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80" b="0" i="0" u="none" strike="noStrike" kern="1200" cap="none" spc="0" normalizeH="0" baseline="0" noProof="0" dirty="0">
                <a:ln>
                  <a:noFill/>
                </a:ln>
                <a:solidFill>
                  <a:srgbClr val="555555"/>
                </a:solidFill>
                <a:effectLst/>
                <a:uLnTx/>
                <a:uFillTx/>
                <a:latin typeface="Calibri" pitchFamily="34" charset="0"/>
                <a:ea typeface="Calibri" pitchFamily="34" charset="-122"/>
                <a:cs typeface="Calibri" pitchFamily="34" charset="-120"/>
              </a:rPr>
              <a:t>Complete evidence-backed research report</a:t>
            </a:r>
            <a:endParaRPr kumimoji="0" lang="en-US" sz="78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Shape 46">
            <a:extLst>
              <a:ext uri="{FF2B5EF4-FFF2-40B4-BE49-F238E27FC236}">
                <a16:creationId xmlns:a16="http://schemas.microsoft.com/office/drawing/2014/main" id="{1A813657-5B31-CE84-A8EF-900D0D1E2C9F}"/>
              </a:ext>
            </a:extLst>
          </p:cNvPr>
          <p:cNvSpPr/>
          <p:nvPr/>
        </p:nvSpPr>
        <p:spPr>
          <a:xfrm>
            <a:off x="2994660" y="3749040"/>
            <a:ext cx="0" cy="320040"/>
          </a:xfrm>
          <a:prstGeom prst="line">
            <a:avLst/>
          </a:prstGeom>
          <a:noFill/>
          <a:ln w="22225">
            <a:solidFill>
              <a:srgbClr val="666666"/>
            </a:solidFill>
            <a:prstDash val="solid"/>
            <a:tailEnd type="triangle"/>
          </a:ln>
        </p:spPr>
      </p:sp>
      <p:sp>
        <p:nvSpPr>
          <p:cNvPr id="93" name="Shape 47">
            <a:extLst>
              <a:ext uri="{FF2B5EF4-FFF2-40B4-BE49-F238E27FC236}">
                <a16:creationId xmlns:a16="http://schemas.microsoft.com/office/drawing/2014/main" id="{122A3B18-4A48-0E0C-FED1-5CAD7CA074FF}"/>
              </a:ext>
            </a:extLst>
          </p:cNvPr>
          <p:cNvSpPr/>
          <p:nvPr/>
        </p:nvSpPr>
        <p:spPr>
          <a:xfrm>
            <a:off x="5509260" y="3749040"/>
            <a:ext cx="0" cy="320040"/>
          </a:xfrm>
          <a:prstGeom prst="line">
            <a:avLst/>
          </a:prstGeom>
          <a:noFill/>
          <a:ln w="22225">
            <a:solidFill>
              <a:srgbClr val="666666"/>
            </a:solidFill>
            <a:prstDash val="solid"/>
            <a:tailEnd type="triangle"/>
          </a:ln>
        </p:spPr>
      </p:sp>
      <p:sp>
        <p:nvSpPr>
          <p:cNvPr id="95" name="Shape 48">
            <a:extLst>
              <a:ext uri="{FF2B5EF4-FFF2-40B4-BE49-F238E27FC236}">
                <a16:creationId xmlns:a16="http://schemas.microsoft.com/office/drawing/2014/main" id="{A725B151-53B2-1F4F-3568-1D95C643DBD2}"/>
              </a:ext>
            </a:extLst>
          </p:cNvPr>
          <p:cNvSpPr/>
          <p:nvPr/>
        </p:nvSpPr>
        <p:spPr>
          <a:xfrm>
            <a:off x="8023860" y="3749040"/>
            <a:ext cx="0" cy="320040"/>
          </a:xfrm>
          <a:prstGeom prst="line">
            <a:avLst/>
          </a:prstGeom>
          <a:noFill/>
          <a:ln w="22225">
            <a:solidFill>
              <a:srgbClr val="666666"/>
            </a:solidFill>
            <a:prstDash val="solid"/>
            <a:tailEnd type="triangle"/>
          </a:ln>
        </p:spPr>
      </p:sp>
      <p:sp>
        <p:nvSpPr>
          <p:cNvPr id="97" name="Shape 49">
            <a:extLst>
              <a:ext uri="{FF2B5EF4-FFF2-40B4-BE49-F238E27FC236}">
                <a16:creationId xmlns:a16="http://schemas.microsoft.com/office/drawing/2014/main" id="{4D101BA0-CB25-B20D-9B8B-8594BCB88E21}"/>
              </a:ext>
            </a:extLst>
          </p:cNvPr>
          <p:cNvSpPr/>
          <p:nvPr/>
        </p:nvSpPr>
        <p:spPr>
          <a:xfrm>
            <a:off x="10538460" y="3749040"/>
            <a:ext cx="0" cy="320040"/>
          </a:xfrm>
          <a:prstGeom prst="line">
            <a:avLst/>
          </a:prstGeom>
          <a:noFill/>
          <a:ln w="22225">
            <a:solidFill>
              <a:srgbClr val="666666"/>
            </a:solidFill>
            <a:prstDash val="solid"/>
            <a:tailEnd type="triangle"/>
          </a:ln>
        </p:spPr>
      </p:sp>
      <p:sp>
        <p:nvSpPr>
          <p:cNvPr id="99" name="TextBox 98">
            <a:extLst>
              <a:ext uri="{FF2B5EF4-FFF2-40B4-BE49-F238E27FC236}">
                <a16:creationId xmlns:a16="http://schemas.microsoft.com/office/drawing/2014/main" id="{793B9767-5C1B-AB50-422D-B157EEE3FB85}"/>
              </a:ext>
            </a:extLst>
          </p:cNvPr>
          <p:cNvSpPr txBox="1"/>
          <p:nvPr/>
        </p:nvSpPr>
        <p:spPr>
          <a:xfrm>
            <a:off x="412191" y="238186"/>
            <a:ext cx="7530363" cy="553998"/>
          </a:xfrm>
          <a:prstGeom prst="rect">
            <a:avLst/>
          </a:prstGeom>
          <a:noFill/>
        </p:spPr>
        <p:txBody>
          <a:bodyPr wrap="square" lIns="73152" rIns="73152" rtlCol="0">
            <a:spAutoFit/>
          </a:bodyPr>
          <a:lstStyle/>
          <a:p>
            <a:r>
              <a:rPr lang="en-IN" sz="3000" b="1" dirty="0">
                <a:solidFill>
                  <a:srgbClr val="42A6F2"/>
                </a:solidFill>
                <a:latin typeface="Arial"/>
              </a:rPr>
              <a:t>System Architecture</a:t>
            </a:r>
            <a:endParaRPr sz="3000" b="1" dirty="0">
              <a:solidFill>
                <a:srgbClr val="42A6F2"/>
              </a:solidFill>
              <a:latin typeface="Arial"/>
            </a:endParaRPr>
          </a:p>
        </p:txBody>
      </p:sp>
    </p:spTree>
    <p:extLst>
      <p:ext uri="{BB962C8B-B14F-4D97-AF65-F5344CB8AC3E}">
        <p14:creationId xmlns:p14="http://schemas.microsoft.com/office/powerpoint/2010/main" val="483839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Methodology</a:t>
            </a:r>
            <a:endParaRPr lang="en-IN" sz="3200" b="1" dirty="0">
              <a:solidFill>
                <a:srgbClr val="46B0FA"/>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46A5B5B8-71CF-7507-07E6-5B436239BB04}"/>
              </a:ext>
            </a:extLst>
          </p:cNvPr>
          <p:cNvPicPr>
            <a:picLocks noChangeAspect="1"/>
          </p:cNvPicPr>
          <p:nvPr/>
        </p:nvPicPr>
        <p:blipFill>
          <a:blip r:embed="rId2"/>
          <a:stretch>
            <a:fillRect/>
          </a:stretch>
        </p:blipFill>
        <p:spPr>
          <a:xfrm>
            <a:off x="364671" y="774798"/>
            <a:ext cx="10132523" cy="5702574"/>
          </a:xfrm>
          <a:prstGeom prst="rect">
            <a:avLst/>
          </a:prstGeom>
        </p:spPr>
      </p:pic>
    </p:spTree>
    <p:extLst>
      <p:ext uri="{BB962C8B-B14F-4D97-AF65-F5344CB8AC3E}">
        <p14:creationId xmlns:p14="http://schemas.microsoft.com/office/powerpoint/2010/main" val="579667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Arial" panose="020B0604020202020204" pitchFamily="34" charset="0"/>
                <a:cs typeface="Arial" panose="020B0604020202020204" pitchFamily="34" charset="0"/>
              </a:rPr>
              <a:t>Working Model</a:t>
            </a:r>
            <a:endParaRPr lang="en-IN" sz="3200" b="1" dirty="0">
              <a:solidFill>
                <a:srgbClr val="46B0FA"/>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81E0168-4B94-3557-DFDD-A1812AE457D3}"/>
              </a:ext>
            </a:extLst>
          </p:cNvPr>
          <p:cNvPicPr>
            <a:picLocks noChangeAspect="1"/>
          </p:cNvPicPr>
          <p:nvPr/>
        </p:nvPicPr>
        <p:blipFill>
          <a:blip r:embed="rId2"/>
          <a:stretch>
            <a:fillRect/>
          </a:stretch>
        </p:blipFill>
        <p:spPr>
          <a:xfrm>
            <a:off x="7691422" y="925951"/>
            <a:ext cx="4276756" cy="4276756"/>
          </a:xfrm>
          <a:prstGeom prst="rect">
            <a:avLst/>
          </a:prstGeom>
        </p:spPr>
      </p:pic>
      <p:sp>
        <p:nvSpPr>
          <p:cNvPr id="7" name="TextBox 6">
            <a:extLst>
              <a:ext uri="{FF2B5EF4-FFF2-40B4-BE49-F238E27FC236}">
                <a16:creationId xmlns:a16="http://schemas.microsoft.com/office/drawing/2014/main" id="{BB7F8D3B-8381-FC29-11FA-531EC8864141}"/>
              </a:ext>
            </a:extLst>
          </p:cNvPr>
          <p:cNvSpPr txBox="1"/>
          <p:nvPr/>
        </p:nvSpPr>
        <p:spPr>
          <a:xfrm>
            <a:off x="325926" y="719101"/>
            <a:ext cx="7446473" cy="6063198"/>
          </a:xfrm>
          <a:prstGeom prst="rect">
            <a:avLst/>
          </a:prstGeom>
          <a:noFill/>
        </p:spPr>
        <p:txBody>
          <a:bodyPr wrap="square">
            <a:spAutoFit/>
          </a:bodyPr>
          <a:lstStyle/>
          <a:p>
            <a:pPr>
              <a:buNone/>
            </a:pPr>
            <a:r>
              <a:rPr lang="en-IN" sz="1550" b="1" dirty="0"/>
              <a:t>1. Requirement Analysis</a:t>
            </a:r>
          </a:p>
          <a:p>
            <a:pPr>
              <a:buNone/>
            </a:pPr>
            <a:r>
              <a:rPr lang="en-IN" sz="1550" dirty="0"/>
              <a:t>The system is designed to accept user-defined research topics, configure LLM and search APIs, retrieve information from multiple sources, and organize research evidence. The overall requirements also include evidence validation, citation traceability, and report generation.</a:t>
            </a:r>
          </a:p>
          <a:p>
            <a:pPr>
              <a:buNone/>
            </a:pPr>
            <a:r>
              <a:rPr lang="en-IN" sz="1550" b="1" dirty="0"/>
              <a:t>2. System Architecture</a:t>
            </a:r>
          </a:p>
          <a:p>
            <a:pPr>
              <a:buNone/>
            </a:pPr>
            <a:r>
              <a:rPr lang="en-IN" sz="1550" dirty="0"/>
              <a:t>The proposed architecture follows a modular, multi-agent workflow:</a:t>
            </a:r>
          </a:p>
          <a:p>
            <a:pPr>
              <a:buNone/>
            </a:pPr>
            <a:r>
              <a:rPr lang="en-IN" sz="1550" b="1" dirty="0"/>
              <a:t>Research Planner → Search &amp; Retrieval → Evidence Extraction → Evidence Validator ↔ Re-search Loop → Report Generator</a:t>
            </a:r>
            <a:endParaRPr lang="en-IN" sz="1550" dirty="0"/>
          </a:p>
          <a:p>
            <a:pPr>
              <a:buNone/>
            </a:pPr>
            <a:r>
              <a:rPr lang="en-IN" sz="1550" dirty="0"/>
              <a:t>Each module is responsible for a specific stage of the research process, enabling structured information flow and future integration of validation and reporting capabilities.</a:t>
            </a:r>
          </a:p>
          <a:p>
            <a:pPr>
              <a:buNone/>
            </a:pPr>
            <a:r>
              <a:rPr lang="en-IN" sz="1550" b="1" dirty="0"/>
              <a:t>3. Working Module</a:t>
            </a:r>
          </a:p>
          <a:p>
            <a:pPr>
              <a:buNone/>
            </a:pPr>
            <a:r>
              <a:rPr lang="en-IN" sz="1550" dirty="0"/>
              <a:t>The system is implemented in Python using an orchestration pipeline that integrates LLM-based research planning with external search providers. It generates structured JSON artifacts to preserve research plans and retrieved evidence for subsequent processing.</a:t>
            </a:r>
          </a:p>
          <a:p>
            <a:pPr>
              <a:buNone/>
            </a:pPr>
            <a:r>
              <a:rPr lang="en-IN" sz="1550" b="1" dirty="0"/>
              <a:t>4. Attained Deliverables</a:t>
            </a:r>
          </a:p>
          <a:p>
            <a:pPr marL="342900" lvl="0" indent="-342900">
              <a:buFont typeface="Arial" panose="020B0604020202020204" pitchFamily="34" charset="0"/>
              <a:buChar char="•"/>
            </a:pPr>
            <a:r>
              <a:rPr lang="en-IN" sz="1550" b="1" dirty="0"/>
              <a:t>Research Planning:</a:t>
            </a:r>
            <a:r>
              <a:rPr lang="en-IN" sz="1550" dirty="0"/>
              <a:t> Autonomous question decomposition and hypothesis generation in </a:t>
            </a:r>
            <a:r>
              <a:rPr lang="en-IN" sz="1550" dirty="0" err="1"/>
              <a:t>research_plan.json</a:t>
            </a:r>
            <a:r>
              <a:rPr lang="en-IN" sz="1550" dirty="0"/>
              <a:t> .</a:t>
            </a:r>
          </a:p>
          <a:p>
            <a:pPr marL="342900" lvl="0" indent="-342900">
              <a:buFont typeface="Arial" panose="020B0604020202020204" pitchFamily="34" charset="0"/>
              <a:buChar char="•"/>
            </a:pPr>
            <a:r>
              <a:rPr lang="en-IN" sz="1550" b="1" dirty="0"/>
              <a:t>Tri-Provider Discovery:</a:t>
            </a:r>
            <a:r>
              <a:rPr lang="en-IN" sz="1550" dirty="0"/>
              <a:t> Integrated </a:t>
            </a:r>
            <a:r>
              <a:rPr lang="en-IN" sz="1550" dirty="0" err="1"/>
              <a:t>Tavily</a:t>
            </a:r>
            <a:r>
              <a:rPr lang="en-IN" sz="1550" dirty="0"/>
              <a:t>, </a:t>
            </a:r>
            <a:r>
              <a:rPr lang="en-IN" sz="1550" dirty="0" err="1"/>
              <a:t>OpenAlex</a:t>
            </a:r>
            <a:r>
              <a:rPr lang="en-IN" sz="1550" dirty="0"/>
              <a:t>, and Semantic Scholar .</a:t>
            </a:r>
          </a:p>
          <a:p>
            <a:pPr marL="342900" lvl="0" indent="-342900">
              <a:buFont typeface="Arial" panose="020B0604020202020204" pitchFamily="34" charset="0"/>
              <a:buChar char="•"/>
            </a:pPr>
            <a:r>
              <a:rPr lang="en-IN" sz="1550" b="1" dirty="0"/>
              <a:t>Semantic Indexing:</a:t>
            </a:r>
            <a:r>
              <a:rPr lang="en-IN" sz="1550" dirty="0"/>
              <a:t> Hybrid BM25 and Gemini vector embeddings with 2-stage filtering. </a:t>
            </a:r>
          </a:p>
          <a:p>
            <a:pPr marL="342900" lvl="0" indent="-342900">
              <a:buFont typeface="Arial" panose="020B0604020202020204" pitchFamily="34" charset="0"/>
              <a:buChar char="•"/>
            </a:pPr>
            <a:r>
              <a:rPr lang="en-IN" sz="1550" b="1" dirty="0"/>
              <a:t>Deep PDF Retrieval:</a:t>
            </a:r>
            <a:r>
              <a:rPr lang="en-IN" sz="1550" dirty="0"/>
              <a:t> Sliding-window passage chunking to prevent context loss.</a:t>
            </a:r>
          </a:p>
          <a:p>
            <a:pPr marL="342900" lvl="0" indent="-342900">
              <a:buFont typeface="Arial" panose="020B0604020202020204" pitchFamily="34" charset="0"/>
              <a:buChar char="•"/>
            </a:pPr>
            <a:r>
              <a:rPr lang="en-IN" sz="1550" b="1" dirty="0"/>
              <a:t>System Verification &amp; CI:</a:t>
            </a:r>
            <a:r>
              <a:rPr lang="en-IN" sz="1550" dirty="0"/>
              <a:t> 177 automated unit tests passing (100% pass rate) with continuous GitHub Actions CI</a:t>
            </a:r>
            <a:r>
              <a:rPr lang="en-IN" sz="1600" dirty="0"/>
              <a:t>.</a:t>
            </a:r>
            <a:endParaRPr lang="en-IN" sz="1550" b="1" dirty="0"/>
          </a:p>
          <a:p>
            <a:pPr>
              <a:buNone/>
            </a:pPr>
            <a:r>
              <a:rPr lang="en-IN" sz="1550" b="1" dirty="0"/>
              <a:t>Next Steps:</a:t>
            </a:r>
            <a:r>
              <a:rPr lang="en-IN" sz="1550" dirty="0"/>
              <a:t> Evidence validation, iterative re-search, and automated cited report generation.</a:t>
            </a:r>
          </a:p>
        </p:txBody>
      </p:sp>
    </p:spTree>
    <p:extLst>
      <p:ext uri="{BB962C8B-B14F-4D97-AF65-F5344CB8AC3E}">
        <p14:creationId xmlns:p14="http://schemas.microsoft.com/office/powerpoint/2010/main" val="2374755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1077218"/>
          </a:xfrm>
          <a:prstGeom prst="rect">
            <a:avLst/>
          </a:prstGeom>
          <a:noFill/>
        </p:spPr>
        <p:txBody>
          <a:bodyPr wrap="square" rtlCol="0">
            <a:spAutoFit/>
          </a:bodyPr>
          <a:lstStyle/>
          <a:p>
            <a:r>
              <a:rPr lang="en-IN" sz="3200" b="1" dirty="0">
                <a:solidFill>
                  <a:srgbClr val="46B0FA"/>
                </a:solidFill>
                <a:latin typeface="Arial" panose="020B0604020202020204" pitchFamily="34" charset="0"/>
                <a:cs typeface="Arial" panose="020B0604020202020204" pitchFamily="34" charset="0"/>
              </a:rPr>
              <a:t>Results: Candidate Retrieval &amp; Semantic Indexing</a:t>
            </a:r>
          </a:p>
        </p:txBody>
      </p:sp>
      <p:pic>
        <p:nvPicPr>
          <p:cNvPr id="7" name="Picture 6">
            <a:extLst>
              <a:ext uri="{FF2B5EF4-FFF2-40B4-BE49-F238E27FC236}">
                <a16:creationId xmlns:a16="http://schemas.microsoft.com/office/drawing/2014/main" id="{8188D664-700D-3F0C-3860-5B2A4C0508E2}"/>
              </a:ext>
            </a:extLst>
          </p:cNvPr>
          <p:cNvPicPr>
            <a:picLocks noChangeAspect="1"/>
          </p:cNvPicPr>
          <p:nvPr/>
        </p:nvPicPr>
        <p:blipFill>
          <a:blip r:embed="rId2"/>
          <a:stretch>
            <a:fillRect/>
          </a:stretch>
        </p:blipFill>
        <p:spPr>
          <a:xfrm>
            <a:off x="325927" y="3275467"/>
            <a:ext cx="11377655" cy="3420836"/>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FE287533-3DF7-459D-01E2-C456A30C6E0B}"/>
                  </a:ext>
                </a:extLst>
              </p:cNvPr>
              <p:cNvSpPr txBox="1"/>
              <p:nvPr/>
            </p:nvSpPr>
            <p:spPr>
              <a:xfrm>
                <a:off x="325927" y="1136125"/>
                <a:ext cx="11079580" cy="2123658"/>
              </a:xfrm>
              <a:prstGeom prst="rect">
                <a:avLst/>
              </a:prstGeom>
              <a:noFill/>
            </p:spPr>
            <p:txBody>
              <a:bodyPr wrap="square">
                <a:spAutoFit/>
              </a:bodyPr>
              <a:lstStyle/>
              <a:p>
                <a:pPr marL="342900" lvl="0" indent="-342900">
                  <a:buFont typeface="Arial" panose="020B0604020202020204" pitchFamily="34" charset="0"/>
                  <a:buChar char="•"/>
                </a:pPr>
                <a:r>
                  <a:rPr lang="en-IN" sz="1600" b="1" dirty="0">
                    <a:effectLst/>
                    <a:latin typeface="Calibri" panose="020F0502020204030204" pitchFamily="34" charset="0"/>
                    <a:ea typeface="Calibri" panose="020F0502020204030204" pitchFamily="34" charset="0"/>
                    <a:cs typeface="Calibri" panose="020F0502020204030204" pitchFamily="34" charset="0"/>
                  </a:rPr>
                  <a:t>Candidate Discovery &amp; Deduplication:</a:t>
                </a:r>
                <a:r>
                  <a:rPr lang="en-IN" sz="1600" dirty="0">
                    <a:effectLst/>
                    <a:latin typeface="Calibri" panose="020F0502020204030204" pitchFamily="34" charset="0"/>
                    <a:ea typeface="Calibri" panose="020F0502020204030204" pitchFamily="34" charset="0"/>
                    <a:cs typeface="Calibri" panose="020F0502020204030204" pitchFamily="34" charset="0"/>
                  </a:rPr>
                  <a:t> 495 candidates discovered </a:t>
                </a:r>
                <a14:m>
                  <m:oMath xmlns:m="http://schemas.openxmlformats.org/officeDocument/2006/math">
                    <m:r>
                      <a:rPr lang="en-IN" sz="1600">
                        <a:latin typeface="Cambria Math" panose="02040503050406030204" pitchFamily="18" charset="0"/>
                      </a:rPr>
                      <m:t>→</m:t>
                    </m:r>
                  </m:oMath>
                </a14:m>
                <a:r>
                  <a:rPr lang="en-IN" sz="1600" dirty="0">
                    <a:effectLst/>
                    <a:latin typeface="Calibri" panose="020F0502020204030204" pitchFamily="34" charset="0"/>
                    <a:ea typeface="Calibri" panose="020F0502020204030204" pitchFamily="34" charset="0"/>
                    <a:cs typeface="Calibri" panose="020F0502020204030204" pitchFamily="34" charset="0"/>
                  </a:rPr>
                  <a:t>401 unique sources retained (81% deduplication efficiency across DOI, </a:t>
                </a:r>
                <a:r>
                  <a:rPr lang="en-IN" sz="1600" dirty="0" err="1">
                    <a:effectLst/>
                    <a:latin typeface="Calibri" panose="020F0502020204030204" pitchFamily="34" charset="0"/>
                    <a:ea typeface="Calibri" panose="020F0502020204030204" pitchFamily="34" charset="0"/>
                    <a:cs typeface="Calibri" panose="020F0502020204030204" pitchFamily="34" charset="0"/>
                  </a:rPr>
                  <a:t>arXiv</a:t>
                </a:r>
                <a:r>
                  <a:rPr lang="en-IN" sz="1600" dirty="0">
                    <a:effectLst/>
                    <a:latin typeface="Calibri" panose="020F0502020204030204" pitchFamily="34" charset="0"/>
                    <a:ea typeface="Calibri" panose="020F0502020204030204" pitchFamily="34" charset="0"/>
                    <a:cs typeface="Calibri" panose="020F0502020204030204" pitchFamily="34" charset="0"/>
                  </a:rPr>
                  <a:t>, and URLs).</a:t>
                </a:r>
              </a:p>
              <a:p>
                <a:pPr marL="342900" lvl="0" indent="-342900">
                  <a:buFont typeface="Arial" panose="020B0604020202020204" pitchFamily="34" charset="0"/>
                  <a:buChar char="•"/>
                </a:pPr>
                <a:r>
                  <a:rPr lang="en-IN" sz="1600" b="1" dirty="0">
                    <a:effectLst/>
                    <a:latin typeface="Calibri" panose="020F0502020204030204" pitchFamily="34" charset="0"/>
                    <a:ea typeface="Calibri" panose="020F0502020204030204" pitchFamily="34" charset="0"/>
                    <a:cs typeface="Calibri" panose="020F0502020204030204" pitchFamily="34" charset="0"/>
                  </a:rPr>
                  <a:t>Two-Stage Candidate Reduction:</a:t>
                </a:r>
                <a:r>
                  <a:rPr lang="en-IN" sz="1600" dirty="0">
                    <a:effectLst/>
                    <a:latin typeface="Calibri" panose="020F0502020204030204" pitchFamily="34" charset="0"/>
                    <a:ea typeface="Calibri" panose="020F0502020204030204" pitchFamily="34" charset="0"/>
                    <a:cs typeface="Calibri" panose="020F0502020204030204" pitchFamily="34" charset="0"/>
                  </a:rPr>
                  <a:t> BM25 coarse filtering instantly narrows 400+ candidates down to 35 before vector embedding, cutting API overhead by </a:t>
                </a:r>
                <a14:m>
                  <m:oMath xmlns:m="http://schemas.openxmlformats.org/officeDocument/2006/math">
                    <m:r>
                      <a:rPr lang="en-IN" sz="1600">
                        <a:latin typeface="Cambria Math" panose="02040503050406030204" pitchFamily="18" charset="0"/>
                      </a:rPr>
                      <m:t>&gt;</m:t>
                    </m:r>
                    <m:r>
                      <a:rPr lang="en-IN" sz="1600" i="0">
                        <a:latin typeface="Cambria Math" panose="02040503050406030204" pitchFamily="18" charset="0"/>
                      </a:rPr>
                      <m:t>90%</m:t>
                    </m:r>
                  </m:oMath>
                </a14:m>
                <a:r>
                  <a:rPr lang="en-IN" sz="1600" dirty="0">
                    <a:effectLst/>
                    <a:latin typeface="Calibri" panose="020F0502020204030204" pitchFamily="34" charset="0"/>
                    <a:ea typeface="Calibri" panose="020F0502020204030204" pitchFamily="34" charset="0"/>
                    <a:cs typeface="Calibri" panose="020F0502020204030204" pitchFamily="34" charset="0"/>
                  </a:rPr>
                  <a:t>.</a:t>
                </a:r>
              </a:p>
              <a:p>
                <a:pPr marL="342900" lvl="0" indent="-342900">
                  <a:buFont typeface="Arial" panose="020B0604020202020204" pitchFamily="34" charset="0"/>
                  <a:buChar char="•"/>
                </a:pPr>
                <a:r>
                  <a:rPr lang="en-IN" sz="1600" b="1" dirty="0">
                    <a:latin typeface="Calibri" panose="020F0502020204030204" pitchFamily="34" charset="0"/>
                    <a:ea typeface="Calibri" panose="020F0502020204030204" pitchFamily="34" charset="0"/>
                    <a:cs typeface="Calibri" panose="020F0502020204030204" pitchFamily="34" charset="0"/>
                  </a:rPr>
                  <a:t>Cross-Domain BM25 Scoring:</a:t>
                </a:r>
                <a:r>
                  <a:rPr lang="en-IN" sz="1600" dirty="0">
                    <a:latin typeface="Calibri" panose="020F0502020204030204" pitchFamily="34" charset="0"/>
                    <a:ea typeface="Calibri" panose="020F0502020204030204" pitchFamily="34" charset="0"/>
                    <a:cs typeface="Calibri" panose="020F0502020204030204" pitchFamily="34" charset="0"/>
                  </a:rPr>
                  <a:t> General-purpose BM25 + Porter stemming deployed across multi-disciplinary queries (AI, Biology, Cryptography) with dynamic term salience.</a:t>
                </a:r>
                <a:endParaRPr lang="en-IN" sz="16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en-IN" sz="1600" b="1" dirty="0">
                    <a:effectLst/>
                    <a:latin typeface="Calibri" panose="020F0502020204030204" pitchFamily="34" charset="0"/>
                    <a:ea typeface="Calibri" panose="020F0502020204030204" pitchFamily="34" charset="0"/>
                    <a:cs typeface="Calibri" panose="020F0502020204030204" pitchFamily="34" charset="0"/>
                  </a:rPr>
                  <a:t>PDF Passage Retrieval:</a:t>
                </a:r>
                <a:r>
                  <a:rPr lang="en-IN" sz="1600" dirty="0">
                    <a:effectLst/>
                    <a:latin typeface="Calibri" panose="020F0502020204030204" pitchFamily="34" charset="0"/>
                    <a:ea typeface="Calibri" panose="020F0502020204030204" pitchFamily="34" charset="0"/>
                    <a:cs typeface="Calibri" panose="020F0502020204030204" pitchFamily="34" charset="0"/>
                  </a:rPr>
                  <a:t> Extracted full-text from </a:t>
                </a:r>
                <a:r>
                  <a:rPr lang="en-IN" sz="1600" dirty="0" err="1">
                    <a:effectLst/>
                    <a:latin typeface="Calibri" panose="020F0502020204030204" pitchFamily="34" charset="0"/>
                    <a:ea typeface="Calibri" panose="020F0502020204030204" pitchFamily="34" charset="0"/>
                    <a:cs typeface="Calibri" panose="020F0502020204030204" pitchFamily="34" charset="0"/>
                  </a:rPr>
                  <a:t>arXiv</a:t>
                </a:r>
                <a:r>
                  <a:rPr lang="en-IN" sz="1600" dirty="0">
                    <a:effectLst/>
                    <a:latin typeface="Calibri" panose="020F0502020204030204" pitchFamily="34" charset="0"/>
                    <a:ea typeface="Calibri" panose="020F0502020204030204" pitchFamily="34" charset="0"/>
                    <a:cs typeface="Calibri" panose="020F0502020204030204" pitchFamily="34" charset="0"/>
                  </a:rPr>
                  <a:t> preprints and segmented into Top 5 focused passages, avoiding 15-page context stuffing.</a:t>
                </a:r>
              </a:p>
            </p:txBody>
          </p:sp>
        </mc:Choice>
        <mc:Fallback>
          <p:sp>
            <p:nvSpPr>
              <p:cNvPr id="4" name="TextBox 3">
                <a:extLst>
                  <a:ext uri="{FF2B5EF4-FFF2-40B4-BE49-F238E27FC236}">
                    <a16:creationId xmlns:a16="http://schemas.microsoft.com/office/drawing/2014/main" id="{FE287533-3DF7-459D-01E2-C456A30C6E0B}"/>
                  </a:ext>
                </a:extLst>
              </p:cNvPr>
              <p:cNvSpPr txBox="1">
                <a:spLocks noRot="1" noChangeAspect="1" noMove="1" noResize="1" noEditPoints="1" noAdjustHandles="1" noChangeArrowheads="1" noChangeShapeType="1" noTextEdit="1"/>
              </p:cNvSpPr>
              <p:nvPr/>
            </p:nvSpPr>
            <p:spPr>
              <a:xfrm>
                <a:off x="325927" y="1136125"/>
                <a:ext cx="11079580" cy="2123658"/>
              </a:xfrm>
              <a:prstGeom prst="rect">
                <a:avLst/>
              </a:prstGeom>
              <a:blipFill>
                <a:blip r:embed="rId3"/>
                <a:stretch>
                  <a:fillRect l="-220" t="-860" r="-220"/>
                </a:stretch>
              </a:blipFill>
            </p:spPr>
            <p:txBody>
              <a:bodyPr/>
              <a:lstStyle/>
              <a:p>
                <a:r>
                  <a:rPr lang="en-IN">
                    <a:noFill/>
                  </a:rPr>
                  <a:t> </a:t>
                </a:r>
              </a:p>
            </p:txBody>
          </p:sp>
        </mc:Fallback>
      </mc:AlternateContent>
    </p:spTree>
    <p:extLst>
      <p:ext uri="{BB962C8B-B14F-4D97-AF65-F5344CB8AC3E}">
        <p14:creationId xmlns:p14="http://schemas.microsoft.com/office/powerpoint/2010/main" val="2743588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62534-E9A5-592E-C301-483AC684C64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892ADD-4C3D-BC28-B2A6-D86954A6CE33}"/>
              </a:ext>
            </a:extLst>
          </p:cNvPr>
          <p:cNvSpPr txBox="1"/>
          <p:nvPr/>
        </p:nvSpPr>
        <p:spPr>
          <a:xfrm>
            <a:off x="325927" y="248626"/>
            <a:ext cx="7530363" cy="1077218"/>
          </a:xfrm>
          <a:prstGeom prst="rect">
            <a:avLst/>
          </a:prstGeom>
          <a:noFill/>
        </p:spPr>
        <p:txBody>
          <a:bodyPr wrap="square" rtlCol="0">
            <a:spAutoFit/>
          </a:bodyPr>
          <a:lstStyle/>
          <a:p>
            <a:r>
              <a:rPr lang="en-IN" sz="3200" b="1" dirty="0">
                <a:solidFill>
                  <a:srgbClr val="46B0FA"/>
                </a:solidFill>
                <a:latin typeface="Arial" panose="020B0604020202020204" pitchFamily="34" charset="0"/>
                <a:cs typeface="Arial" panose="020B0604020202020204" pitchFamily="34" charset="0"/>
              </a:rPr>
              <a:t>Results: Evidence Evaluation &amp; Iterative Loop</a:t>
            </a:r>
          </a:p>
        </p:txBody>
      </p:sp>
      <p:pic>
        <p:nvPicPr>
          <p:cNvPr id="4" name="Picture 3">
            <a:extLst>
              <a:ext uri="{FF2B5EF4-FFF2-40B4-BE49-F238E27FC236}">
                <a16:creationId xmlns:a16="http://schemas.microsoft.com/office/drawing/2014/main" id="{6D394B4D-6D5C-E2DD-1237-A4B62A049376}"/>
              </a:ext>
            </a:extLst>
          </p:cNvPr>
          <p:cNvPicPr>
            <a:picLocks noChangeAspect="1"/>
          </p:cNvPicPr>
          <p:nvPr/>
        </p:nvPicPr>
        <p:blipFill>
          <a:blip r:embed="rId2"/>
          <a:stretch>
            <a:fillRect/>
          </a:stretch>
        </p:blipFill>
        <p:spPr>
          <a:xfrm>
            <a:off x="448588" y="1275244"/>
            <a:ext cx="4242845" cy="5413196"/>
          </a:xfrm>
          <a:prstGeom prst="rect">
            <a:avLst/>
          </a:prstGeom>
        </p:spPr>
      </p:pic>
      <p:pic>
        <p:nvPicPr>
          <p:cNvPr id="6" name="Picture 5">
            <a:extLst>
              <a:ext uri="{FF2B5EF4-FFF2-40B4-BE49-F238E27FC236}">
                <a16:creationId xmlns:a16="http://schemas.microsoft.com/office/drawing/2014/main" id="{B4F7D11B-E00B-F986-8D6E-4FB1402620B5}"/>
              </a:ext>
            </a:extLst>
          </p:cNvPr>
          <p:cNvPicPr>
            <a:picLocks noChangeAspect="1"/>
          </p:cNvPicPr>
          <p:nvPr/>
        </p:nvPicPr>
        <p:blipFill>
          <a:blip r:embed="rId3"/>
          <a:stretch>
            <a:fillRect/>
          </a:stretch>
        </p:blipFill>
        <p:spPr>
          <a:xfrm>
            <a:off x="6038850" y="1275244"/>
            <a:ext cx="4384669" cy="5413196"/>
          </a:xfrm>
          <a:prstGeom prst="rect">
            <a:avLst/>
          </a:prstGeom>
        </p:spPr>
      </p:pic>
    </p:spTree>
    <p:extLst>
      <p:ext uri="{BB962C8B-B14F-4D97-AF65-F5344CB8AC3E}">
        <p14:creationId xmlns:p14="http://schemas.microsoft.com/office/powerpoint/2010/main" val="1264056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22501"/>
            <a:ext cx="7530363" cy="584775"/>
          </a:xfrm>
          <a:prstGeom prst="rect">
            <a:avLst/>
          </a:prstGeom>
          <a:noFill/>
        </p:spPr>
        <p:txBody>
          <a:bodyPr wrap="square" rtlCol="0">
            <a:spAutoFit/>
          </a:bodyPr>
          <a:lstStyle/>
          <a:p>
            <a:r>
              <a:rPr lang="en-IN" sz="3200" b="1" dirty="0">
                <a:solidFill>
                  <a:srgbClr val="46B0FA"/>
                </a:solidFill>
                <a:latin typeface="Arial" panose="020B0604020202020204" pitchFamily="34" charset="0"/>
                <a:cs typeface="Arial" panose="020B0604020202020204" pitchFamily="34" charset="0"/>
              </a:rPr>
              <a:t>Future Work</a:t>
            </a:r>
          </a:p>
        </p:txBody>
      </p:sp>
      <p:sp>
        <p:nvSpPr>
          <p:cNvPr id="3" name="TextBox 2">
            <a:extLst>
              <a:ext uri="{FF2B5EF4-FFF2-40B4-BE49-F238E27FC236}">
                <a16:creationId xmlns:a16="http://schemas.microsoft.com/office/drawing/2014/main" id="{66168532-D141-4AB0-BD29-1663F2877B3E}"/>
              </a:ext>
            </a:extLst>
          </p:cNvPr>
          <p:cNvSpPr txBox="1"/>
          <p:nvPr/>
        </p:nvSpPr>
        <p:spPr>
          <a:xfrm>
            <a:off x="392973" y="920621"/>
            <a:ext cx="9901002" cy="4308872"/>
          </a:xfrm>
          <a:prstGeom prst="rect">
            <a:avLst/>
          </a:prstGeom>
          <a:noFill/>
        </p:spPr>
        <p:txBody>
          <a:bodyPr wrap="square" rtlCol="0">
            <a:spAutoFit/>
          </a:bodyPr>
          <a:lstStyle/>
          <a:p>
            <a:r>
              <a:rPr lang="en-IN" sz="1600" dirty="0"/>
              <a:t>The next phase of the project will focus on extending the existing research planning and retrieval modules into a complete evidence-driven research framework.</a:t>
            </a:r>
          </a:p>
          <a:p>
            <a:endParaRPr lang="en-IN" sz="1600" dirty="0"/>
          </a:p>
          <a:p>
            <a:r>
              <a:rPr lang="en-IN" sz="1600" b="1" dirty="0"/>
              <a:t>1. Evidence Validation Layer</a:t>
            </a:r>
            <a:br>
              <a:rPr lang="en-IN" sz="1600" dirty="0"/>
            </a:br>
            <a:r>
              <a:rPr lang="en-IN" sz="1600" dirty="0"/>
              <a:t>Extend the Mid-Term auditing modules (</a:t>
            </a:r>
            <a:r>
              <a:rPr lang="en-IN" sz="1600" dirty="0" err="1"/>
              <a:t>ClaimVerifier</a:t>
            </a:r>
            <a:r>
              <a:rPr lang="en-IN" sz="1600" dirty="0"/>
              <a:t> &amp; </a:t>
            </a:r>
            <a:r>
              <a:rPr lang="en-IN" sz="1600" dirty="0" err="1"/>
              <a:t>PlanCritic</a:t>
            </a:r>
            <a:r>
              <a:rPr lang="en-IN" sz="1600" dirty="0"/>
              <a:t>) into sentence-level NLI contradiction detection and automated claim grounding.</a:t>
            </a:r>
          </a:p>
          <a:p>
            <a:r>
              <a:rPr lang="en-IN" sz="1600" b="1" dirty="0"/>
              <a:t>2. Automated Iterative Re-Search</a:t>
            </a:r>
          </a:p>
          <a:p>
            <a:r>
              <a:rPr lang="en-IN" sz="1600" dirty="0"/>
              <a:t>Automate sufficiency gap detection to trigger multi-round targeted re-search queries.</a:t>
            </a:r>
            <a:br>
              <a:rPr lang="en-IN" sz="1600" dirty="0"/>
            </a:br>
            <a:r>
              <a:rPr lang="en-IN" sz="1600" b="1" dirty="0"/>
              <a:t>3. Calibrated Report Generation</a:t>
            </a:r>
            <a:br>
              <a:rPr lang="en-IN" sz="1600" dirty="0"/>
            </a:br>
            <a:r>
              <a:rPr lang="en-IN" sz="1600" dirty="0"/>
              <a:t>Generate structured academic reports with explicit epistemic confidence levels and deterministic citations [1], [2].</a:t>
            </a:r>
          </a:p>
          <a:p>
            <a:r>
              <a:rPr lang="en-IN" sz="1600" b="1" dirty="0"/>
              <a:t>4. Headless PDF Compilation</a:t>
            </a:r>
            <a:br>
              <a:rPr lang="en-IN" sz="1600" dirty="0"/>
            </a:br>
            <a:r>
              <a:rPr lang="en-IN" sz="1600" dirty="0"/>
              <a:t>Integrate </a:t>
            </a:r>
            <a:r>
              <a:rPr lang="en-IN" sz="1600" dirty="0" err="1"/>
              <a:t>WeasyPrint</a:t>
            </a:r>
            <a:r>
              <a:rPr lang="en-IN" sz="1600" dirty="0"/>
              <a:t> to directly export publication-grade .pdf files alongside .html.</a:t>
            </a:r>
          </a:p>
          <a:p>
            <a:r>
              <a:rPr lang="en-IN" sz="1600" b="1" dirty="0"/>
              <a:t>5. Citation Graph Traversal</a:t>
            </a:r>
            <a:br>
              <a:rPr lang="en-IN" sz="1600" dirty="0"/>
            </a:br>
            <a:r>
              <a:rPr lang="en-IN" sz="1600" dirty="0"/>
              <a:t>Expand references multi-hop forward and backward using Semantic Scholar's academic graph API.</a:t>
            </a:r>
          </a:p>
          <a:p>
            <a:r>
              <a:rPr lang="en-IN" sz="1600" b="1" dirty="0"/>
              <a:t>Expected Outcome:</a:t>
            </a:r>
            <a:r>
              <a:rPr lang="en-IN" sz="1600" dirty="0"/>
              <a:t> A fully integrated, autonomous research agent capable of generating structured, evidence-supported reports with improved reliability and transparency.</a:t>
            </a:r>
          </a:p>
          <a:p>
            <a:endParaRPr sz="1600" dirty="0"/>
          </a:p>
        </p:txBody>
      </p:sp>
    </p:spTree>
    <p:extLst>
      <p:ext uri="{BB962C8B-B14F-4D97-AF65-F5344CB8AC3E}">
        <p14:creationId xmlns:p14="http://schemas.microsoft.com/office/powerpoint/2010/main" val="3871416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IN" sz="3200" b="1" dirty="0">
                <a:solidFill>
                  <a:srgbClr val="46B0FA"/>
                </a:solidFill>
                <a:latin typeface="Arial" panose="020B0604020202020204" pitchFamily="34" charset="0"/>
                <a:cs typeface="Arial" panose="020B0604020202020204" pitchFamily="34" charset="0"/>
              </a:rPr>
              <a:t>Reference</a:t>
            </a:r>
          </a:p>
        </p:txBody>
      </p:sp>
      <p:sp>
        <p:nvSpPr>
          <p:cNvPr id="3" name="TextBox 2">
            <a:extLst>
              <a:ext uri="{FF2B5EF4-FFF2-40B4-BE49-F238E27FC236}">
                <a16:creationId xmlns:a16="http://schemas.microsoft.com/office/drawing/2014/main" id="{66168532-D141-4AB0-BD29-1663F2877B3E}"/>
              </a:ext>
            </a:extLst>
          </p:cNvPr>
          <p:cNvSpPr txBox="1"/>
          <p:nvPr/>
        </p:nvSpPr>
        <p:spPr>
          <a:xfrm>
            <a:off x="512716" y="839779"/>
            <a:ext cx="9901002" cy="5324535"/>
          </a:xfrm>
          <a:prstGeom prst="rect">
            <a:avLst/>
          </a:prstGeom>
          <a:noFill/>
        </p:spPr>
        <p:txBody>
          <a:bodyPr wrap="square" rtlCol="0">
            <a:spAutoFit/>
          </a:bodyPr>
          <a:lstStyle/>
          <a:p>
            <a:r>
              <a:rPr lang="en-IN" sz="1600" b="1" dirty="0"/>
              <a:t>References</a:t>
            </a:r>
          </a:p>
          <a:p>
            <a:r>
              <a:rPr lang="en-IN" sz="1600" b="1" dirty="0"/>
              <a:t>Research Papers</a:t>
            </a:r>
            <a:endParaRPr lang="en-IN" sz="1600" dirty="0"/>
          </a:p>
          <a:p>
            <a:pPr marL="342900" lvl="0" indent="-342900">
              <a:buFont typeface="+mj-lt"/>
              <a:buAutoNum type="arabicPeriod"/>
            </a:pPr>
            <a:r>
              <a:rPr lang="en-IN" sz="1600" dirty="0"/>
              <a:t>Wang, L., et al. (2024). </a:t>
            </a:r>
            <a:r>
              <a:rPr lang="en-IN" sz="1600" i="1" dirty="0"/>
              <a:t>A Survey on Large Language Model Based Autonomous Agents.</a:t>
            </a:r>
            <a:r>
              <a:rPr lang="en-IN" sz="1600" dirty="0"/>
              <a:t> Frontiers of Computer Science, 18, Article 186345. </a:t>
            </a:r>
            <a:r>
              <a:rPr lang="en-IN" sz="1600" dirty="0">
                <a:hlinkClick r:id="rId2">
                  <a:extLst>
                    <a:ext uri="{A12FA001-AC4F-418D-AE19-62706E023703}">
                      <ahyp:hlinkClr xmlns:ahyp="http://schemas.microsoft.com/office/drawing/2018/hyperlinkcolor" val="tx"/>
                    </a:ext>
                  </a:extLst>
                </a:hlinkClick>
              </a:rPr>
              <a:t>https://doi.org/10.1007/s11704-024-40231-1</a:t>
            </a:r>
            <a:endParaRPr lang="en-IN" sz="1600" dirty="0"/>
          </a:p>
          <a:p>
            <a:pPr marL="342900" indent="-342900">
              <a:buFont typeface="+mj-lt"/>
              <a:buAutoNum type="arabicPeriod"/>
            </a:pPr>
            <a:r>
              <a:rPr lang="en-IN" sz="1600" dirty="0"/>
              <a:t>Liu, N. F., et al. (2024). </a:t>
            </a:r>
            <a:r>
              <a:rPr lang="en-IN" sz="1600" i="1" dirty="0"/>
              <a:t>Lost in the Middle: How Language Models Use Long Contexts</a:t>
            </a:r>
            <a:r>
              <a:rPr lang="en-IN" sz="1600" dirty="0"/>
              <a:t>. Transactions of the ACL.</a:t>
            </a:r>
            <a:r>
              <a:rPr lang="en-IN" sz="1600" dirty="0">
                <a:hlinkClick r:id="rId3"/>
              </a:rPr>
              <a:t> </a:t>
            </a:r>
            <a:r>
              <a:rPr lang="en-IN" sz="1600" dirty="0">
                <a:hlinkClick r:id="rId3">
                  <a:extLst>
                    <a:ext uri="{A12FA001-AC4F-418D-AE19-62706E023703}">
                      <ahyp:hlinkClr xmlns:ahyp="http://schemas.microsoft.com/office/drawing/2018/hyperlinkcolor" val="tx"/>
                    </a:ext>
                  </a:extLst>
                </a:hlinkClick>
              </a:rPr>
              <a:t>https://arxiv.org/abs/2307.03172</a:t>
            </a:r>
            <a:endParaRPr lang="en-IN" sz="1600" dirty="0"/>
          </a:p>
          <a:p>
            <a:pPr marL="342900" lvl="0" indent="-342900">
              <a:buFont typeface="+mj-lt"/>
              <a:buAutoNum type="arabicPeriod"/>
            </a:pPr>
            <a:r>
              <a:rPr lang="en-IN" sz="1600" dirty="0"/>
              <a:t>Robertson, S., &amp; Zaragoza, H. (2009). </a:t>
            </a:r>
            <a:r>
              <a:rPr lang="en-IN" sz="1600" i="1" dirty="0"/>
              <a:t>The Probabilistic Relevance Framework: BM25 and Beyond</a:t>
            </a:r>
            <a:r>
              <a:rPr lang="en-IN" sz="1600" dirty="0"/>
              <a:t>. Foundations and Trends in Information Retrieval.</a:t>
            </a:r>
            <a:r>
              <a:rPr lang="en-IN" sz="1600" dirty="0">
                <a:hlinkClick r:id="rId4"/>
              </a:rPr>
              <a:t> </a:t>
            </a:r>
            <a:r>
              <a:rPr lang="en-IN" sz="1600" dirty="0">
                <a:hlinkClick r:id="rId4">
                  <a:extLst>
                    <a:ext uri="{A12FA001-AC4F-418D-AE19-62706E023703}">
                      <ahyp:hlinkClr xmlns:ahyp="http://schemas.microsoft.com/office/drawing/2018/hyperlinkcolor" val="tx"/>
                    </a:ext>
                  </a:extLst>
                </a:hlinkClick>
              </a:rPr>
              <a:t>https://doi.org/10.1561/1500000019</a:t>
            </a:r>
            <a:endParaRPr lang="en-IN" sz="1600" dirty="0"/>
          </a:p>
          <a:p>
            <a:pPr marL="342900" lvl="0" indent="-342900">
              <a:buFont typeface="+mj-lt"/>
              <a:buAutoNum type="arabicPeriod"/>
            </a:pPr>
            <a:r>
              <a:rPr lang="en-IN" sz="1600" dirty="0"/>
              <a:t>Singh, A., Ehtesham, A., Kumar, S., </a:t>
            </a:r>
            <a:r>
              <a:rPr lang="en-IN" sz="1600" dirty="0" err="1"/>
              <a:t>Khoei</a:t>
            </a:r>
            <a:r>
              <a:rPr lang="en-IN" sz="1600" dirty="0"/>
              <a:t>, T. T., &amp; Vasilakos, A. V. (2025). </a:t>
            </a:r>
            <a:r>
              <a:rPr lang="en-IN" sz="1600" i="1" dirty="0"/>
              <a:t>Agentic Retrieval-Augmented Generation: A Survey on Agentic RAG.</a:t>
            </a:r>
            <a:r>
              <a:rPr lang="en-IN" sz="1600" dirty="0"/>
              <a:t> arXiv:2501.09136. </a:t>
            </a:r>
            <a:r>
              <a:rPr lang="en-IN" sz="1600" dirty="0">
                <a:hlinkClick r:id="rId5">
                  <a:extLst>
                    <a:ext uri="{A12FA001-AC4F-418D-AE19-62706E023703}">
                      <ahyp:hlinkClr xmlns:ahyp="http://schemas.microsoft.com/office/drawing/2018/hyperlinkcolor" val="tx"/>
                    </a:ext>
                  </a:extLst>
                </a:hlinkClick>
              </a:rPr>
              <a:t>https://arxiv.org/abs/2501.09136</a:t>
            </a:r>
            <a:endParaRPr lang="en-IN" sz="1600" dirty="0"/>
          </a:p>
          <a:p>
            <a:pPr marL="342900" lvl="0" indent="-342900">
              <a:buFont typeface="+mj-lt"/>
              <a:buAutoNum type="arabicPeriod"/>
            </a:pPr>
            <a:r>
              <a:rPr lang="en-IN" sz="1600" dirty="0"/>
              <a:t>Li, Y., et al. (2025). </a:t>
            </a:r>
            <a:r>
              <a:rPr lang="en-IN" sz="1600" i="1" dirty="0"/>
              <a:t>A Survey of RAG-Reasoning Systems in Large Language Models.</a:t>
            </a:r>
            <a:r>
              <a:rPr lang="en-IN" sz="1600" dirty="0"/>
              <a:t> Findings of the Association for Computational Linguistics: EMNLP 2025, pp. 12120–12145. </a:t>
            </a:r>
            <a:r>
              <a:rPr lang="en-IN" sz="1600" dirty="0">
                <a:hlinkClick r:id="rId6">
                  <a:extLst>
                    <a:ext uri="{A12FA001-AC4F-418D-AE19-62706E023703}">
                      <ahyp:hlinkClr xmlns:ahyp="http://schemas.microsoft.com/office/drawing/2018/hyperlinkcolor" val="tx"/>
                    </a:ext>
                  </a:extLst>
                </a:hlinkClick>
              </a:rPr>
              <a:t>https://doi.org/10.18653/v1/2025.findings-emnlp.648</a:t>
            </a:r>
            <a:endParaRPr lang="en-IN" sz="1600" dirty="0"/>
          </a:p>
          <a:p>
            <a:endParaRPr lang="en-IN" sz="1600" b="1" dirty="0"/>
          </a:p>
          <a:p>
            <a:r>
              <a:rPr lang="en-IN" sz="1600" b="1" dirty="0"/>
              <a:t>Foundational Work</a:t>
            </a:r>
            <a:endParaRPr lang="en-IN" sz="1600" dirty="0"/>
          </a:p>
          <a:p>
            <a:pPr lvl="0"/>
            <a:r>
              <a:rPr lang="en-IN" sz="1600" dirty="0"/>
              <a:t>Yao, S., et al. (2023). </a:t>
            </a:r>
            <a:r>
              <a:rPr lang="en-IN" sz="1600" i="1" dirty="0" err="1"/>
              <a:t>ReAct</a:t>
            </a:r>
            <a:r>
              <a:rPr lang="en-IN" sz="1600" i="1" dirty="0"/>
              <a:t>: Synergizing Reasoning and Acting in Language Models.</a:t>
            </a:r>
            <a:r>
              <a:rPr lang="en-IN" sz="1600" dirty="0"/>
              <a:t> International Conference on Learning Representations (ICLR).</a:t>
            </a:r>
          </a:p>
          <a:p>
            <a:pPr lvl="0"/>
            <a:endParaRPr lang="en-IN" sz="1600" dirty="0"/>
          </a:p>
          <a:p>
            <a:r>
              <a:rPr lang="en-IN" sz="1600" b="1" dirty="0"/>
              <a:t>Project References</a:t>
            </a:r>
            <a:endParaRPr lang="en-IN" sz="1600" dirty="0"/>
          </a:p>
          <a:p>
            <a:pPr lvl="0"/>
            <a:r>
              <a:rPr lang="en-IN" sz="1600" dirty="0"/>
              <a:t>GitHub Repository: </a:t>
            </a:r>
            <a:r>
              <a:rPr lang="en-IN" sz="1600" dirty="0">
                <a:hlinkClick r:id="rId7"/>
              </a:rPr>
              <a:t>https://github.com/kanishk-16/research-agent</a:t>
            </a:r>
            <a:endParaRPr lang="en-IN" sz="1600" dirty="0"/>
          </a:p>
          <a:p>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59081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D82EA-6098-704F-AD4D-D13A499C492D}"/>
              </a:ext>
            </a:extLst>
          </p:cNvPr>
          <p:cNvSpPr txBox="1"/>
          <p:nvPr/>
        </p:nvSpPr>
        <p:spPr>
          <a:xfrm>
            <a:off x="1895294" y="3601496"/>
            <a:ext cx="8401412" cy="1200329"/>
          </a:xfrm>
          <a:prstGeom prst="rect">
            <a:avLst/>
          </a:prstGeom>
          <a:noFill/>
        </p:spPr>
        <p:txBody>
          <a:bodyPr wrap="square" rtlCol="0">
            <a:spAutoFit/>
          </a:bodyPr>
          <a:lstStyle/>
          <a:p>
            <a:pPr algn="ctr"/>
            <a:r>
              <a:rPr lang="en-US" sz="7200" b="1" dirty="0">
                <a:solidFill>
                  <a:srgbClr val="46B0FA"/>
                </a:solidFill>
                <a:latin typeface="Arial" panose="020B0604020202020204" pitchFamily="34" charset="0"/>
                <a:cs typeface="Arial" panose="020B0604020202020204" pitchFamily="34" charset="0"/>
              </a:rPr>
              <a:t>Thank You</a:t>
            </a:r>
            <a:endParaRPr lang="en-IN" sz="7200" b="1" dirty="0">
              <a:solidFill>
                <a:srgbClr val="46B0FA"/>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7FBB1AB-6227-0A49-9677-D759BB97E908}"/>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icture containing text, clipart&#10;&#10;Description automatically generated">
            <a:extLst>
              <a:ext uri="{FF2B5EF4-FFF2-40B4-BE49-F238E27FC236}">
                <a16:creationId xmlns:a16="http://schemas.microsoft.com/office/drawing/2014/main" id="{B3B91EF5-66BF-4A12-80C1-98869846E0D6}"/>
              </a:ext>
            </a:extLst>
          </p:cNvPr>
          <p:cNvPicPr>
            <a:picLocks noChangeAspect="1"/>
          </p:cNvPicPr>
          <p:nvPr/>
        </p:nvPicPr>
        <p:blipFill>
          <a:blip r:embed="rId2"/>
          <a:stretch>
            <a:fillRect/>
          </a:stretch>
        </p:blipFill>
        <p:spPr>
          <a:xfrm>
            <a:off x="3992880" y="1709987"/>
            <a:ext cx="4206240" cy="1806854"/>
          </a:xfrm>
          <a:prstGeom prst="rect">
            <a:avLst/>
          </a:prstGeom>
        </p:spPr>
      </p:pic>
    </p:spTree>
    <p:extLst>
      <p:ext uri="{BB962C8B-B14F-4D97-AF65-F5344CB8AC3E}">
        <p14:creationId xmlns:p14="http://schemas.microsoft.com/office/powerpoint/2010/main" val="3579348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12412</TotalTime>
  <Words>1725</Words>
  <Application>Microsoft Office PowerPoint</Application>
  <PresentationFormat>Widescreen</PresentationFormat>
  <Paragraphs>175</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Stuti Gandhi</dc:creator>
  <cp:lastModifiedBy>Yash Thakur</cp:lastModifiedBy>
  <cp:revision>583</cp:revision>
  <dcterms:created xsi:type="dcterms:W3CDTF">2021-05-06T09:42:21Z</dcterms:created>
  <dcterms:modified xsi:type="dcterms:W3CDTF">2026-10-05T08:19:21Z</dcterms:modified>
</cp:coreProperties>
</file>